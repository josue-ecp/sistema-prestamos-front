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62" r:id="rId5"/>
    <p:sldId id="259" r:id="rId6"/>
    <p:sldId id="260" r:id="rId7"/>
    <p:sldId id="261"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9" d="100"/>
          <a:sy n="69" d="100"/>
        </p:scale>
        <p:origin x="-5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6 Conector recto"/>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28 Título"/>
          <p:cNvSpPr>
            <a:spLocks noGrp="1"/>
          </p:cNvSpPr>
          <p:nvPr>
            <p:ph type="ctrTitle"/>
          </p:nvPr>
        </p:nvSpPr>
        <p:spPr>
          <a:xfrm>
            <a:off x="381000" y="4853411"/>
            <a:ext cx="8458200" cy="1222375"/>
          </a:xfrm>
        </p:spPr>
        <p:txBody>
          <a:bodyPr anchor="t"/>
          <a:lstStyle/>
          <a:p>
            <a:r>
              <a:rPr kumimoji="0" lang="es-ES" smtClean="0"/>
              <a:t>Haga clic para modificar el estilo de título del patrón</a:t>
            </a:r>
            <a:endParaRPr kumimoji="0" lang="en-US"/>
          </a:p>
        </p:txBody>
      </p:sp>
      <p:sp>
        <p:nvSpPr>
          <p:cNvPr id="9" name="8 Subtítulo"/>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16" name="15 Marcador de fecha"/>
          <p:cNvSpPr>
            <a:spLocks noGrp="1"/>
          </p:cNvSpPr>
          <p:nvPr>
            <p:ph type="dt" sz="half" idx="10"/>
          </p:nvPr>
        </p:nvSpPr>
        <p:spPr/>
        <p:txBody>
          <a:bodyPr/>
          <a:lstStyle/>
          <a:p>
            <a:fld id="{99A4A5B1-E668-4C11-B0FF-B8E4DC88D28C}" type="datetimeFigureOut">
              <a:rPr lang="es-ES" smtClean="0"/>
              <a:t>01/02/2011</a:t>
            </a:fld>
            <a:endParaRPr lang="es-ES"/>
          </a:p>
        </p:txBody>
      </p:sp>
      <p:sp>
        <p:nvSpPr>
          <p:cNvPr id="2" name="1 Marcador de pie de página"/>
          <p:cNvSpPr>
            <a:spLocks noGrp="1"/>
          </p:cNvSpPr>
          <p:nvPr>
            <p:ph type="ftr" sz="quarter" idx="11"/>
          </p:nvPr>
        </p:nvSpPr>
        <p:spPr/>
        <p:txBody>
          <a:bodyPr/>
          <a:lstStyle/>
          <a:p>
            <a:endParaRPr lang="es-ES"/>
          </a:p>
        </p:txBody>
      </p:sp>
      <p:sp>
        <p:nvSpPr>
          <p:cNvPr id="15" name="14 Marcador de número de diapositiva"/>
          <p:cNvSpPr>
            <a:spLocks noGrp="1"/>
          </p:cNvSpPr>
          <p:nvPr>
            <p:ph type="sldNum" sz="quarter" idx="12"/>
          </p:nvPr>
        </p:nvSpPr>
        <p:spPr>
          <a:xfrm>
            <a:off x="8229600" y="6473952"/>
            <a:ext cx="758952" cy="246888"/>
          </a:xfrm>
        </p:spPr>
        <p:txBody>
          <a:bodyPr/>
          <a:lstStyle/>
          <a:p>
            <a:fld id="{1365C0ED-4665-4ADD-AFEF-90C125DAB952}" type="slidenum">
              <a:rPr lang="es-ES" smtClean="0"/>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2" name="2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27" name="26 Marcador de contenido"/>
          <p:cNvSpPr>
            <a:spLocks noGrp="1"/>
          </p:cNvSpPr>
          <p:nvPr>
            <p:ph idx="1"/>
          </p:nvPr>
        </p:nvSpPr>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25" name="24 Marcador de fecha"/>
          <p:cNvSpPr>
            <a:spLocks noGrp="1"/>
          </p:cNvSpPr>
          <p:nvPr>
            <p:ph type="dt" sz="half" idx="10"/>
          </p:nvPr>
        </p:nvSpPr>
        <p:spPr/>
        <p:txBody>
          <a:bodyPr/>
          <a:lstStyle/>
          <a:p>
            <a:fld id="{99A4A5B1-E668-4C11-B0FF-B8E4DC88D28C}" type="datetimeFigureOut">
              <a:rPr lang="es-ES" smtClean="0"/>
              <a:t>01/02/2011</a:t>
            </a:fld>
            <a:endParaRPr lang="es-ES"/>
          </a:p>
        </p:txBody>
      </p:sp>
      <p:sp>
        <p:nvSpPr>
          <p:cNvPr id="19" name="18 Marcador de pie de página"/>
          <p:cNvSpPr>
            <a:spLocks noGrp="1"/>
          </p:cNvSpPr>
          <p:nvPr>
            <p:ph type="ftr" sz="quarter" idx="11"/>
          </p:nvPr>
        </p:nvSpPr>
        <p:spPr>
          <a:xfrm>
            <a:off x="3581400" y="76200"/>
            <a:ext cx="2895600" cy="288925"/>
          </a:xfrm>
        </p:spPr>
        <p:txBody>
          <a:bodyPr/>
          <a:lstStyle/>
          <a:p>
            <a:endParaRPr lang="es-ES"/>
          </a:p>
        </p:txBody>
      </p:sp>
      <p:sp>
        <p:nvSpPr>
          <p:cNvPr id="16" name="15 Marcador de número de diapositiva"/>
          <p:cNvSpPr>
            <a:spLocks noGrp="1"/>
          </p:cNvSpPr>
          <p:nvPr>
            <p:ph type="sldNum" sz="quarter" idx="12"/>
          </p:nvPr>
        </p:nvSpPr>
        <p:spPr>
          <a:xfrm>
            <a:off x="8229600" y="6473952"/>
            <a:ext cx="758952" cy="246888"/>
          </a:xfrm>
        </p:spPr>
        <p:txBody>
          <a:bodyPr/>
          <a:lstStyle/>
          <a:p>
            <a:fld id="{1365C0ED-4665-4ADD-AFEF-90C125DAB952}" type="slidenum">
              <a:rPr lang="es-ES" smtClean="0"/>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3">
        <a:schemeClr val="bg2"/>
      </p:bgRef>
    </p:bg>
    <p:spTree>
      <p:nvGrpSpPr>
        <p:cNvPr id="1" name=""/>
        <p:cNvGrpSpPr/>
        <p:nvPr/>
      </p:nvGrpSpPr>
      <p:grpSpPr>
        <a:xfrm>
          <a:off x="0" y="0"/>
          <a:ext cx="0" cy="0"/>
          <a:chOff x="0" y="0"/>
          <a:chExt cx="0" cy="0"/>
        </a:xfrm>
      </p:grpSpPr>
      <p:sp>
        <p:nvSpPr>
          <p:cNvPr id="7" name="6 Conector recto"/>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5 Marcador de texto"/>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19" name="18 Marcador de fecha"/>
          <p:cNvSpPr>
            <a:spLocks noGrp="1"/>
          </p:cNvSpPr>
          <p:nvPr>
            <p:ph type="dt" sz="half" idx="10"/>
          </p:nvPr>
        </p:nvSpPr>
        <p:spPr/>
        <p:txBody>
          <a:bodyPr/>
          <a:lstStyle/>
          <a:p>
            <a:fld id="{99A4A5B1-E668-4C11-B0FF-B8E4DC88D28C}" type="datetimeFigureOut">
              <a:rPr lang="es-ES" smtClean="0"/>
              <a:t>01/02/2011</a:t>
            </a:fld>
            <a:endParaRPr lang="es-ES"/>
          </a:p>
        </p:txBody>
      </p:sp>
      <p:sp>
        <p:nvSpPr>
          <p:cNvPr id="11" name="10 Marcador de pie de página"/>
          <p:cNvSpPr>
            <a:spLocks noGrp="1"/>
          </p:cNvSpPr>
          <p:nvPr>
            <p:ph type="ftr" sz="quarter" idx="11"/>
          </p:nvPr>
        </p:nvSpPr>
        <p:spPr/>
        <p:txBody>
          <a:bodyPr/>
          <a:lstStyle/>
          <a:p>
            <a:endParaRPr lang="es-ES"/>
          </a:p>
        </p:txBody>
      </p:sp>
      <p:sp>
        <p:nvSpPr>
          <p:cNvPr id="16" name="15 Marcador de número de diapositiva"/>
          <p:cNvSpPr>
            <a:spLocks noGrp="1"/>
          </p:cNvSpPr>
          <p:nvPr>
            <p:ph type="sldNum" sz="quarter" idx="12"/>
          </p:nvPr>
        </p:nvSpPr>
        <p:spPr/>
        <p:txBody>
          <a:bodyPr/>
          <a:lstStyle/>
          <a:p>
            <a:fld id="{1365C0ED-4665-4ADD-AFEF-90C125DAB952}" type="slidenum">
              <a:rPr lang="es-ES" smtClean="0"/>
              <a:t>‹Nº›</a:t>
            </a:fld>
            <a:endParaRPr lang="es-ES"/>
          </a:p>
        </p:txBody>
      </p:sp>
      <p:sp>
        <p:nvSpPr>
          <p:cNvPr id="8" name="7 Título"/>
          <p:cNvSpPr>
            <a:spLocks noGrp="1"/>
          </p:cNvSpPr>
          <p:nvPr>
            <p:ph type="title"/>
          </p:nvPr>
        </p:nvSpPr>
        <p:spPr>
          <a:xfrm>
            <a:off x="180475" y="2947085"/>
            <a:ext cx="8686800" cy="1184825"/>
          </a:xfrm>
        </p:spPr>
        <p:txBody>
          <a:bodyPr rtlCol="0" anchor="t"/>
          <a:lstStyle>
            <a:lvl1pPr algn="r">
              <a:defRPr/>
            </a:lvl1pPr>
          </a:lstStyle>
          <a:p>
            <a:r>
              <a:rPr kumimoji="0" lang="es-ES" smtClean="0"/>
              <a:t>Haga clic para modificar el estilo de título del patrón</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0" name="19 Título"/>
          <p:cNvSpPr>
            <a:spLocks noGrp="1"/>
          </p:cNvSpPr>
          <p:nvPr>
            <p:ph type="title"/>
          </p:nvPr>
        </p:nvSpPr>
        <p:spPr>
          <a:xfrm>
            <a:off x="301752" y="457200"/>
            <a:ext cx="8686800" cy="841248"/>
          </a:xfrm>
        </p:spPr>
        <p:txBody>
          <a:bodyPr/>
          <a:lstStyle/>
          <a:p>
            <a:r>
              <a:rPr kumimoji="0" lang="es-ES" smtClean="0"/>
              <a:t>Haga clic para modificar el estilo de título del patrón</a:t>
            </a:r>
            <a:endParaRPr kumimoji="0" lang="en-US"/>
          </a:p>
        </p:txBody>
      </p:sp>
      <p:sp>
        <p:nvSpPr>
          <p:cNvPr id="14" name="13 Marcador de contenido"/>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3" name="12 Marcador de contenido"/>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21" name="20 Marcador de fecha"/>
          <p:cNvSpPr>
            <a:spLocks noGrp="1"/>
          </p:cNvSpPr>
          <p:nvPr>
            <p:ph type="dt" sz="half" idx="10"/>
          </p:nvPr>
        </p:nvSpPr>
        <p:spPr/>
        <p:txBody>
          <a:bodyPr/>
          <a:lstStyle/>
          <a:p>
            <a:fld id="{99A4A5B1-E668-4C11-B0FF-B8E4DC88D28C}" type="datetimeFigureOut">
              <a:rPr lang="es-ES" smtClean="0"/>
              <a:t>01/02/2011</a:t>
            </a:fld>
            <a:endParaRPr lang="es-ES"/>
          </a:p>
        </p:txBody>
      </p:sp>
      <p:sp>
        <p:nvSpPr>
          <p:cNvPr id="10" name="9 Marcador de pie de página"/>
          <p:cNvSpPr>
            <a:spLocks noGrp="1"/>
          </p:cNvSpPr>
          <p:nvPr>
            <p:ph type="ftr" sz="quarter" idx="11"/>
          </p:nvPr>
        </p:nvSpPr>
        <p:spPr/>
        <p:txBody>
          <a:bodyPr/>
          <a:lstStyle/>
          <a:p>
            <a:endParaRPr lang="es-ES"/>
          </a:p>
        </p:txBody>
      </p:sp>
      <p:sp>
        <p:nvSpPr>
          <p:cNvPr id="31" name="30 Marcador de número de diapositiva"/>
          <p:cNvSpPr>
            <a:spLocks noGrp="1"/>
          </p:cNvSpPr>
          <p:nvPr>
            <p:ph type="sldNum" sz="quarter" idx="12"/>
          </p:nvPr>
        </p:nvSpPr>
        <p:spPr/>
        <p:txBody>
          <a:bodyPr/>
          <a:lstStyle/>
          <a:p>
            <a:fld id="{1365C0ED-4665-4ADD-AFEF-90C125DAB952}" type="slidenum">
              <a:rPr lang="es-ES" smtClean="0"/>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spTree>
      <p:nvGrpSpPr>
        <p:cNvPr id="1" name=""/>
        <p:cNvGrpSpPr/>
        <p:nvPr/>
      </p:nvGrpSpPr>
      <p:grpSpPr>
        <a:xfrm>
          <a:off x="0" y="0"/>
          <a:ext cx="0" cy="0"/>
          <a:chOff x="0" y="0"/>
          <a:chExt cx="0" cy="0"/>
        </a:xfrm>
      </p:grpSpPr>
      <p:sp>
        <p:nvSpPr>
          <p:cNvPr id="29" name="28 Título"/>
          <p:cNvSpPr>
            <a:spLocks noGrp="1"/>
          </p:cNvSpPr>
          <p:nvPr>
            <p:ph type="title"/>
          </p:nvPr>
        </p:nvSpPr>
        <p:spPr>
          <a:xfrm>
            <a:off x="304800" y="5410200"/>
            <a:ext cx="8610600" cy="882650"/>
          </a:xfrm>
        </p:spPr>
        <p:txBody>
          <a:bodyPr anchor="ctr"/>
          <a:lstStyle>
            <a:lvl1pPr>
              <a:defRPr/>
            </a:lvl1p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25" name="24 Marcador de texto"/>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contenido"/>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28" name="27 Marcador de contenido"/>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0" name="9 Marcador de fecha"/>
          <p:cNvSpPr>
            <a:spLocks noGrp="1"/>
          </p:cNvSpPr>
          <p:nvPr>
            <p:ph type="dt" sz="half" idx="10"/>
          </p:nvPr>
        </p:nvSpPr>
        <p:spPr/>
        <p:txBody>
          <a:bodyPr/>
          <a:lstStyle/>
          <a:p>
            <a:fld id="{99A4A5B1-E668-4C11-B0FF-B8E4DC88D28C}" type="datetimeFigureOut">
              <a:rPr lang="es-ES" smtClean="0"/>
              <a:t>01/02/2011</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a:xfrm>
            <a:off x="8229600" y="6477000"/>
            <a:ext cx="762000" cy="246888"/>
          </a:xfrm>
        </p:spPr>
        <p:txBody>
          <a:bodyPr/>
          <a:lstStyle/>
          <a:p>
            <a:fld id="{1365C0ED-4665-4ADD-AFEF-90C125DAB952}" type="slidenum">
              <a:rPr lang="es-ES" smtClean="0"/>
              <a:t>‹Nº›</a:t>
            </a:fld>
            <a:endParaRPr lang="es-ES"/>
          </a:p>
        </p:txBody>
      </p:sp>
      <p:sp>
        <p:nvSpPr>
          <p:cNvPr id="11" name="10 Conector recto"/>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30" name="29 Título"/>
          <p:cNvSpPr>
            <a:spLocks noGrp="1"/>
          </p:cNvSpPr>
          <p:nvPr>
            <p:ph type="title"/>
          </p:nvPr>
        </p:nvSpPr>
        <p:spPr>
          <a:xfrm>
            <a:off x="301752" y="457200"/>
            <a:ext cx="8686800" cy="841248"/>
          </a:xfrm>
        </p:spPr>
        <p:txBody>
          <a:bodyPr/>
          <a:lstStyle/>
          <a:p>
            <a:r>
              <a:rPr kumimoji="0" lang="es-ES" smtClean="0"/>
              <a:t>Haga clic para modificar el estilo de título del patrón</a:t>
            </a:r>
            <a:endParaRPr kumimoji="0" lang="en-US"/>
          </a:p>
        </p:txBody>
      </p:sp>
      <p:sp>
        <p:nvSpPr>
          <p:cNvPr id="12" name="11 Marcador de fecha"/>
          <p:cNvSpPr>
            <a:spLocks noGrp="1"/>
          </p:cNvSpPr>
          <p:nvPr>
            <p:ph type="dt" sz="half" idx="10"/>
          </p:nvPr>
        </p:nvSpPr>
        <p:spPr/>
        <p:txBody>
          <a:bodyPr/>
          <a:lstStyle/>
          <a:p>
            <a:fld id="{99A4A5B1-E668-4C11-B0FF-B8E4DC88D28C}" type="datetimeFigureOut">
              <a:rPr lang="es-ES" smtClean="0"/>
              <a:t>01/02/2011</a:t>
            </a:fld>
            <a:endParaRPr lang="es-ES"/>
          </a:p>
        </p:txBody>
      </p:sp>
      <p:sp>
        <p:nvSpPr>
          <p:cNvPr id="21" name="20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65C0ED-4665-4ADD-AFEF-90C125DAB952}" type="slidenum">
              <a:rPr lang="es-ES" smtClean="0"/>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99A4A5B1-E668-4C11-B0FF-B8E4DC88D28C}" type="datetimeFigureOut">
              <a:rPr lang="es-ES" smtClean="0"/>
              <a:t>01/02/2011</a:t>
            </a:fld>
            <a:endParaRPr lang="es-ES"/>
          </a:p>
        </p:txBody>
      </p:sp>
      <p:sp>
        <p:nvSpPr>
          <p:cNvPr id="24" name="23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65C0ED-4665-4ADD-AFEF-90C125DAB952}"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7 Conector recto"/>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Título"/>
          <p:cNvSpPr>
            <a:spLocks noGrp="1"/>
          </p:cNvSpPr>
          <p:nvPr>
            <p:ph type="title"/>
          </p:nvPr>
        </p:nvSpPr>
        <p:spPr>
          <a:xfrm>
            <a:off x="457200" y="5486400"/>
            <a:ext cx="8458200" cy="520700"/>
          </a:xfrm>
        </p:spPr>
        <p:txBody>
          <a:bodyPr anchor="ctr"/>
          <a:lstStyle>
            <a:lvl1pPr algn="l">
              <a:buNone/>
              <a:defRPr sz="2000" b="1"/>
            </a:lvl1pPr>
          </a:lstStyle>
          <a:p>
            <a:r>
              <a:rPr kumimoji="0" lang="es-ES" smtClean="0"/>
              <a:t>Haga clic para modificar el estilo de título del patrón</a:t>
            </a:r>
            <a:endParaRPr kumimoji="0" lang="en-US"/>
          </a:p>
        </p:txBody>
      </p:sp>
      <p:sp>
        <p:nvSpPr>
          <p:cNvPr id="26" name="25 Marcador de texto"/>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14" name="13 Marcador de contenido"/>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25" name="24 Marcador de fecha"/>
          <p:cNvSpPr>
            <a:spLocks noGrp="1"/>
          </p:cNvSpPr>
          <p:nvPr>
            <p:ph type="dt" sz="half" idx="10"/>
          </p:nvPr>
        </p:nvSpPr>
        <p:spPr/>
        <p:txBody>
          <a:bodyPr/>
          <a:lstStyle/>
          <a:p>
            <a:fld id="{99A4A5B1-E668-4C11-B0FF-B8E4DC88D28C}" type="datetimeFigureOut">
              <a:rPr lang="es-ES" smtClean="0"/>
              <a:t>01/02/2011</a:t>
            </a:fld>
            <a:endParaRPr lang="es-ES"/>
          </a:p>
        </p:txBody>
      </p:sp>
      <p:sp>
        <p:nvSpPr>
          <p:cNvPr id="29" name="28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65C0ED-4665-4ADD-AFEF-90C125DAB952}" type="slidenum">
              <a:rPr lang="es-ES" smtClean="0"/>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3" name="12 Marcador de posición de imagen"/>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es-ES" smtClean="0"/>
              <a:t>Haga clic en el icono para agregar una imagen</a:t>
            </a:r>
            <a:endParaRPr kumimoji="0" lang="en-US" dirty="0"/>
          </a:p>
        </p:txBody>
      </p:sp>
      <p:sp>
        <p:nvSpPr>
          <p:cNvPr id="7" name="6 Marcador de fecha"/>
          <p:cNvSpPr>
            <a:spLocks noGrp="1"/>
          </p:cNvSpPr>
          <p:nvPr>
            <p:ph type="dt" sz="half" idx="10"/>
          </p:nvPr>
        </p:nvSpPr>
        <p:spPr/>
        <p:txBody>
          <a:bodyPr/>
          <a:lstStyle/>
          <a:p>
            <a:fld id="{99A4A5B1-E668-4C11-B0FF-B8E4DC88D28C}" type="datetimeFigureOut">
              <a:rPr lang="es-ES" smtClean="0"/>
              <a:t>01/02/2011</a:t>
            </a:fld>
            <a:endParaRPr lang="es-ES"/>
          </a:p>
        </p:txBody>
      </p:sp>
      <p:sp>
        <p:nvSpPr>
          <p:cNvPr id="5" name="4 Marcador de pie de página"/>
          <p:cNvSpPr>
            <a:spLocks noGrp="1"/>
          </p:cNvSpPr>
          <p:nvPr>
            <p:ph type="ftr" sz="quarter" idx="11"/>
          </p:nvPr>
        </p:nvSpPr>
        <p:spPr/>
        <p:txBody>
          <a:bodyPr/>
          <a:lstStyle/>
          <a:p>
            <a:endParaRPr lang="es-ES"/>
          </a:p>
        </p:txBody>
      </p:sp>
      <p:sp>
        <p:nvSpPr>
          <p:cNvPr id="31" name="30 Marcador de número de diapositiva"/>
          <p:cNvSpPr>
            <a:spLocks noGrp="1"/>
          </p:cNvSpPr>
          <p:nvPr>
            <p:ph type="sldNum" sz="quarter" idx="12"/>
          </p:nvPr>
        </p:nvSpPr>
        <p:spPr/>
        <p:txBody>
          <a:bodyPr/>
          <a:lstStyle/>
          <a:p>
            <a:fld id="{1365C0ED-4665-4ADD-AFEF-90C125DAB952}" type="slidenum">
              <a:rPr lang="es-ES" smtClean="0"/>
              <a:t>‹Nº›</a:t>
            </a:fld>
            <a:endParaRPr lang="es-ES"/>
          </a:p>
        </p:txBody>
      </p:sp>
      <p:sp>
        <p:nvSpPr>
          <p:cNvPr id="17" name="16 Título"/>
          <p:cNvSpPr>
            <a:spLocks noGrp="1"/>
          </p:cNvSpPr>
          <p:nvPr>
            <p:ph type="title"/>
          </p:nvPr>
        </p:nvSpPr>
        <p:spPr>
          <a:xfrm>
            <a:off x="381000" y="4993760"/>
            <a:ext cx="5867400" cy="522288"/>
          </a:xfrm>
        </p:spPr>
        <p:txBody>
          <a:bodyPr anchor="ctr"/>
          <a:lstStyle>
            <a:lvl1pPr algn="l">
              <a:buNone/>
              <a:defRPr sz="2000" b="1"/>
            </a:lvl1pPr>
          </a:lstStyle>
          <a:p>
            <a:r>
              <a:rPr kumimoji="0" lang="es-ES" smtClean="0"/>
              <a:t>Haga clic para modificar el estilo de título del patrón</a:t>
            </a:r>
            <a:endParaRPr kumimoji="0" lang="en-US"/>
          </a:p>
        </p:txBody>
      </p:sp>
      <p:sp>
        <p:nvSpPr>
          <p:cNvPr id="26" name="25 Marcador de texto"/>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99A4A5B1-E668-4C11-B0FF-B8E4DC88D28C}" type="datetimeFigureOut">
              <a:rPr lang="es-ES" smtClean="0"/>
              <a:t>01/02/2011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65C0ED-4665-4ADD-AFEF-90C125DAB952}"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858000" y="549276"/>
            <a:ext cx="182880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549276"/>
            <a:ext cx="62484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99A4A5B1-E668-4C11-B0FF-B8E4DC88D28C}" type="datetimeFigureOut">
              <a:rPr lang="es-ES" smtClean="0"/>
              <a:t>01/02/2011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65C0ED-4665-4ADD-AFEF-90C125DAB952}"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6 Conector recto"/>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7 Marcador de texto"/>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1" name="10 Marcador de fecha"/>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fld id="{99A4A5B1-E668-4C11-B0FF-B8E4DC88D28C}" type="datetimeFigureOut">
              <a:rPr lang="es-ES" smtClean="0"/>
              <a:t>01/02/2011</a:t>
            </a:fld>
            <a:endParaRPr lang="es-ES"/>
          </a:p>
        </p:txBody>
      </p:sp>
      <p:sp>
        <p:nvSpPr>
          <p:cNvPr id="28" name="27 Marcador de pie de página"/>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endParaRPr lang="es-ES"/>
          </a:p>
        </p:txBody>
      </p:sp>
      <p:sp>
        <p:nvSpPr>
          <p:cNvPr id="5" name="4 Marcador de número de diapositiva"/>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1365C0ED-4665-4ADD-AFEF-90C125DAB952}" type="slidenum">
              <a:rPr lang="es-ES" smtClean="0"/>
              <a:t>‹Nº›</a:t>
            </a:fld>
            <a:endParaRPr lang="es-ES"/>
          </a:p>
        </p:txBody>
      </p:sp>
      <p:sp>
        <p:nvSpPr>
          <p:cNvPr id="10" name="9 Marcador de título"/>
          <p:cNvSpPr>
            <a:spLocks noGrp="1"/>
          </p:cNvSpPr>
          <p:nvPr>
            <p:ph type="title"/>
          </p:nvPr>
        </p:nvSpPr>
        <p:spPr>
          <a:xfrm>
            <a:off x="304800" y="457200"/>
            <a:ext cx="8686800" cy="838200"/>
          </a:xfrm>
          <a:prstGeom prst="rect">
            <a:avLst/>
          </a:prstGeom>
        </p:spPr>
        <p:txBody>
          <a:bodyPr vert="horz" anchor="ctr">
            <a:normAutofit/>
          </a:bodyPr>
          <a:lstStyle/>
          <a:p>
            <a:r>
              <a:rPr kumimoji="0" lang="es-ES" smtClean="0"/>
              <a:t>Haga clic para modificar el estilo de título del patrón</a:t>
            </a:r>
            <a:endParaRPr kumimoji="0" lang="en-US"/>
          </a:p>
        </p:txBody>
      </p:sp>
      <p:sp>
        <p:nvSpPr>
          <p:cNvPr id="9" name="8 Conector recto"/>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Conector recto"/>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audio" Target="../media/audio2.wav"/><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audio" Target="../media/audio2.wav"/><Relationship Id="rId1" Type="http://schemas.openxmlformats.org/officeDocument/2006/relationships/slideLayout" Target="../slideLayouts/slideLayout7.xml"/><Relationship Id="rId4" Type="http://schemas.openxmlformats.org/officeDocument/2006/relationships/image" Target="../media/image10.gif"/></Relationships>
</file>

<file path=ppt/slides/_rels/slide11.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audio" Target="../media/audio2.wav"/><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14.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audio" Target="../media/audio2.wav"/><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5643570" y="4143380"/>
            <a:ext cx="3214710" cy="2143140"/>
          </a:xfrm>
          <a:ln>
            <a:solidFill>
              <a:schemeClr val="accent1"/>
            </a:solidFill>
          </a:ln>
        </p:spPr>
        <p:txBody>
          <a:bodyPr>
            <a:normAutofit fontScale="90000"/>
          </a:bodyPr>
          <a:lstStyle/>
          <a:p>
            <a:pPr algn="r"/>
            <a:r>
              <a:rPr lang="es-ES" sz="1600" u="sng" cap="none" dirty="0" smtClean="0">
                <a:solidFill>
                  <a:schemeClr val="tx1"/>
                </a:solidFill>
                <a:latin typeface="Arial" pitchFamily="34" charset="0"/>
                <a:cs typeface="Arial" pitchFamily="34" charset="0"/>
              </a:rPr>
              <a:t>Participantes</a:t>
            </a:r>
            <a:r>
              <a:rPr lang="es-ES" sz="1600" cap="none" dirty="0" smtClean="0">
                <a:solidFill>
                  <a:schemeClr val="tx1"/>
                </a:solidFill>
                <a:latin typeface="Arial" pitchFamily="34" charset="0"/>
                <a:cs typeface="Arial" pitchFamily="34" charset="0"/>
              </a:rPr>
              <a:t/>
            </a:r>
            <a:br>
              <a:rPr lang="es-ES" sz="1600" cap="none" dirty="0" smtClean="0">
                <a:solidFill>
                  <a:schemeClr val="tx1"/>
                </a:solidFill>
                <a:latin typeface="Arial" pitchFamily="34" charset="0"/>
                <a:cs typeface="Arial" pitchFamily="34" charset="0"/>
              </a:rPr>
            </a:br>
            <a:r>
              <a:rPr lang="es-ES" sz="1600" cap="none" dirty="0" smtClean="0">
                <a:solidFill>
                  <a:schemeClr val="tx1"/>
                </a:solidFill>
                <a:latin typeface="Arial" pitchFamily="34" charset="0"/>
                <a:cs typeface="Arial" pitchFamily="34" charset="0"/>
              </a:rPr>
              <a:t>Jiménez Zuliran</a:t>
            </a:r>
            <a:br>
              <a:rPr lang="es-ES" sz="1600" cap="none" dirty="0" smtClean="0">
                <a:solidFill>
                  <a:schemeClr val="tx1"/>
                </a:solidFill>
                <a:latin typeface="Arial" pitchFamily="34" charset="0"/>
                <a:cs typeface="Arial" pitchFamily="34" charset="0"/>
              </a:rPr>
            </a:br>
            <a:r>
              <a:rPr lang="es-ES" sz="1600" cap="none" dirty="0" smtClean="0">
                <a:solidFill>
                  <a:schemeClr val="tx1"/>
                </a:solidFill>
                <a:latin typeface="Arial" pitchFamily="34" charset="0"/>
                <a:cs typeface="Arial" pitchFamily="34" charset="0"/>
              </a:rPr>
              <a:t>Ventura Sarai</a:t>
            </a:r>
            <a:br>
              <a:rPr lang="es-ES" sz="1600" cap="none" dirty="0" smtClean="0">
                <a:solidFill>
                  <a:schemeClr val="tx1"/>
                </a:solidFill>
                <a:latin typeface="Arial" pitchFamily="34" charset="0"/>
                <a:cs typeface="Arial" pitchFamily="34" charset="0"/>
              </a:rPr>
            </a:br>
            <a:r>
              <a:rPr lang="es-ES" sz="1600" cap="none" dirty="0" smtClean="0">
                <a:solidFill>
                  <a:schemeClr val="tx1"/>
                </a:solidFill>
                <a:latin typeface="Arial" pitchFamily="34" charset="0"/>
                <a:cs typeface="Arial" pitchFamily="34" charset="0"/>
              </a:rPr>
              <a:t>Cordero Yarisvay</a:t>
            </a:r>
            <a:br>
              <a:rPr lang="es-ES" sz="1600" cap="none" dirty="0" smtClean="0">
                <a:solidFill>
                  <a:schemeClr val="tx1"/>
                </a:solidFill>
                <a:latin typeface="Arial" pitchFamily="34" charset="0"/>
                <a:cs typeface="Arial" pitchFamily="34" charset="0"/>
              </a:rPr>
            </a:br>
            <a:r>
              <a:rPr lang="es-ES" sz="1600" cap="none" dirty="0" smtClean="0">
                <a:solidFill>
                  <a:schemeClr val="tx1"/>
                </a:solidFill>
                <a:latin typeface="Arial" pitchFamily="34" charset="0"/>
                <a:cs typeface="Arial" pitchFamily="34" charset="0"/>
              </a:rPr>
              <a:t>Andrade Betzabet</a:t>
            </a:r>
            <a:br>
              <a:rPr lang="es-ES" sz="1600" cap="none" dirty="0" smtClean="0">
                <a:solidFill>
                  <a:schemeClr val="tx1"/>
                </a:solidFill>
                <a:latin typeface="Arial" pitchFamily="34" charset="0"/>
                <a:cs typeface="Arial" pitchFamily="34" charset="0"/>
              </a:rPr>
            </a:br>
            <a:r>
              <a:rPr lang="es-ES" sz="1600" cap="none" dirty="0" smtClean="0">
                <a:solidFill>
                  <a:schemeClr val="tx1"/>
                </a:solidFill>
                <a:latin typeface="Arial" pitchFamily="34" charset="0"/>
                <a:cs typeface="Arial" pitchFamily="34" charset="0"/>
              </a:rPr>
              <a:t>Arroyo Leonardo</a:t>
            </a:r>
            <a:br>
              <a:rPr lang="es-ES" sz="1600" cap="none" dirty="0" smtClean="0">
                <a:solidFill>
                  <a:schemeClr val="tx1"/>
                </a:solidFill>
                <a:latin typeface="Arial" pitchFamily="34" charset="0"/>
                <a:cs typeface="Arial" pitchFamily="34" charset="0"/>
              </a:rPr>
            </a:br>
            <a:r>
              <a:rPr lang="es-ES" sz="1600" cap="none" dirty="0" smtClean="0">
                <a:solidFill>
                  <a:schemeClr val="tx1"/>
                </a:solidFill>
                <a:latin typeface="Arial" pitchFamily="34" charset="0"/>
                <a:cs typeface="Arial" pitchFamily="34" charset="0"/>
              </a:rPr>
              <a:t>Guedez Erika</a:t>
            </a:r>
            <a:br>
              <a:rPr lang="es-ES" sz="1600" cap="none" dirty="0" smtClean="0">
                <a:solidFill>
                  <a:schemeClr val="tx1"/>
                </a:solidFill>
                <a:latin typeface="Arial" pitchFamily="34" charset="0"/>
                <a:cs typeface="Arial" pitchFamily="34" charset="0"/>
              </a:rPr>
            </a:br>
            <a:r>
              <a:rPr lang="es-ES" sz="1600" cap="none" dirty="0" smtClean="0">
                <a:solidFill>
                  <a:schemeClr val="tx1"/>
                </a:solidFill>
                <a:latin typeface="Arial" pitchFamily="34" charset="0"/>
                <a:cs typeface="Arial" pitchFamily="34" charset="0"/>
              </a:rPr>
              <a:t>Sección: A</a:t>
            </a:r>
            <a:br>
              <a:rPr lang="es-ES" sz="1600" cap="none" dirty="0" smtClean="0">
                <a:solidFill>
                  <a:schemeClr val="tx1"/>
                </a:solidFill>
                <a:latin typeface="Arial" pitchFamily="34" charset="0"/>
                <a:cs typeface="Arial" pitchFamily="34" charset="0"/>
              </a:rPr>
            </a:br>
            <a:r>
              <a:rPr lang="es-ES" sz="1600" cap="none" dirty="0" smtClean="0">
                <a:solidFill>
                  <a:schemeClr val="tx1"/>
                </a:solidFill>
                <a:latin typeface="Arial" pitchFamily="34" charset="0"/>
                <a:cs typeface="Arial" pitchFamily="34" charset="0"/>
              </a:rPr>
              <a:t>Técnicas de Programación y Control aplicadas al Mercadeo</a:t>
            </a:r>
            <a:r>
              <a:rPr lang="es-ES" sz="1400" cap="none" dirty="0" smtClean="0">
                <a:solidFill>
                  <a:schemeClr val="tx1"/>
                </a:solidFill>
                <a:latin typeface="Arial" pitchFamily="34" charset="0"/>
                <a:cs typeface="Arial" pitchFamily="34" charset="0"/>
              </a:rPr>
              <a:t>.</a:t>
            </a:r>
            <a:br>
              <a:rPr lang="es-ES" sz="1400" cap="none" dirty="0" smtClean="0">
                <a:solidFill>
                  <a:schemeClr val="tx1"/>
                </a:solidFill>
                <a:latin typeface="Arial" pitchFamily="34" charset="0"/>
                <a:cs typeface="Arial" pitchFamily="34" charset="0"/>
              </a:rPr>
            </a:br>
            <a:r>
              <a:rPr lang="es-ES" sz="1400" cap="none" dirty="0" smtClean="0">
                <a:solidFill>
                  <a:schemeClr val="tx1"/>
                </a:solidFill>
                <a:latin typeface="Arial" pitchFamily="34" charset="0"/>
                <a:cs typeface="Arial" pitchFamily="34" charset="0"/>
              </a:rPr>
              <a:t/>
            </a:r>
            <a:br>
              <a:rPr lang="es-ES" sz="1400" cap="none" dirty="0" smtClean="0">
                <a:solidFill>
                  <a:schemeClr val="tx1"/>
                </a:solidFill>
                <a:latin typeface="Arial" pitchFamily="34" charset="0"/>
                <a:cs typeface="Arial" pitchFamily="34" charset="0"/>
              </a:rPr>
            </a:br>
            <a:endParaRPr lang="es-ES" sz="1400" cap="none" dirty="0">
              <a:solidFill>
                <a:schemeClr val="tx1"/>
              </a:solidFill>
              <a:latin typeface="Arial" pitchFamily="34" charset="0"/>
              <a:cs typeface="Arial" pitchFamily="34" charset="0"/>
            </a:endParaRPr>
          </a:p>
        </p:txBody>
      </p:sp>
      <p:sp>
        <p:nvSpPr>
          <p:cNvPr id="3" name="2 Subtítulo"/>
          <p:cNvSpPr>
            <a:spLocks noGrp="1"/>
          </p:cNvSpPr>
          <p:nvPr>
            <p:ph type="subTitle" idx="1"/>
          </p:nvPr>
        </p:nvSpPr>
        <p:spPr>
          <a:xfrm>
            <a:off x="3214678" y="2714620"/>
            <a:ext cx="4500594" cy="1214446"/>
          </a:xfrm>
        </p:spPr>
        <p:txBody>
          <a:bodyPr>
            <a:noAutofit/>
          </a:bodyPr>
          <a:lstStyle/>
          <a:p>
            <a:pPr algn="ctr"/>
            <a:r>
              <a:rPr lang="es-ES" sz="5400" dirty="0" smtClean="0">
                <a:latin typeface="Arial" pitchFamily="34" charset="0"/>
                <a:cs typeface="Arial" pitchFamily="34" charset="0"/>
              </a:rPr>
              <a:t>Matriz de Ansoff</a:t>
            </a:r>
            <a:endParaRPr lang="es-ES" sz="5400" dirty="0">
              <a:latin typeface="Arial" pitchFamily="34" charset="0"/>
              <a:cs typeface="Arial" pitchFamily="34" charset="0"/>
            </a:endParaRPr>
          </a:p>
        </p:txBody>
      </p:sp>
      <p:pic>
        <p:nvPicPr>
          <p:cNvPr id="4" name="3 Imagen" descr="Simon Rodriguez_2"/>
          <p:cNvPicPr/>
          <p:nvPr/>
        </p:nvPicPr>
        <p:blipFill>
          <a:blip r:embed="rId3" cstate="print"/>
          <a:srcRect/>
          <a:stretch>
            <a:fillRect/>
          </a:stretch>
        </p:blipFill>
        <p:spPr bwMode="auto">
          <a:xfrm>
            <a:off x="0" y="0"/>
            <a:ext cx="1357318" cy="6858000"/>
          </a:xfrm>
          <a:prstGeom prst="rect">
            <a:avLst/>
          </a:prstGeom>
          <a:noFill/>
          <a:ln w="9525">
            <a:noFill/>
            <a:miter lim="800000"/>
            <a:headEnd/>
            <a:tailEnd/>
          </a:ln>
        </p:spPr>
      </p:pic>
      <p:sp>
        <p:nvSpPr>
          <p:cNvPr id="49155"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9156" name="Rectangle 4"/>
          <p:cNvSpPr>
            <a:spLocks noChangeArrowheads="1"/>
          </p:cNvSpPr>
          <p:nvPr/>
        </p:nvSpPr>
        <p:spPr bwMode="auto">
          <a:xfrm>
            <a:off x="0" y="609600"/>
            <a:ext cx="8072462" cy="135421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1400" b="0" i="0" u="none" strike="noStrike" cap="none" normalizeH="0" baseline="0" dirty="0" smtClean="0">
                <a:ln>
                  <a:noFill/>
                </a:ln>
                <a:solidFill>
                  <a:schemeClr val="tx1"/>
                </a:solidFill>
                <a:effectLst/>
                <a:latin typeface="Arial" pitchFamily="34" charset="0"/>
                <a:ea typeface="Arial Unicode MS" pitchFamily="34" charset="-128"/>
                <a:cs typeface="Arial" pitchFamily="34" charset="0"/>
              </a:rPr>
              <a:t>                                                  </a:t>
            </a:r>
            <a:r>
              <a:rPr kumimoji="0" lang="es-ES" sz="1600" b="0" i="0" u="none" strike="noStrike" cap="none" normalizeH="0" baseline="0" dirty="0" smtClean="0">
                <a:ln>
                  <a:noFill/>
                </a:ln>
                <a:solidFill>
                  <a:schemeClr val="tx1"/>
                </a:solidFill>
                <a:effectLst/>
                <a:latin typeface="Arial" pitchFamily="34" charset="0"/>
                <a:ea typeface="Arial Unicode MS" pitchFamily="34" charset="-128"/>
                <a:cs typeface="Arial" pitchFamily="34" charset="0"/>
              </a:rPr>
              <a:t>República Bolivariana de Venezuela</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Arial" pitchFamily="34" charset="0"/>
                <a:ea typeface="Arial Unicode MS" pitchFamily="34" charset="-128"/>
                <a:cs typeface="Arial" pitchFamily="34" charset="0"/>
              </a:rPr>
              <a:t>                                                Ministerio del Poder Popular para la Educación Superior</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Arial" pitchFamily="34" charset="0"/>
                <a:ea typeface="Arial Unicode MS" pitchFamily="34" charset="-128"/>
                <a:cs typeface="Arial" pitchFamily="34" charset="0"/>
              </a:rPr>
              <a:t>                                               Universidad Nacional Experimental “Simón Rodríguez”</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Arial" pitchFamily="34" charset="0"/>
                <a:ea typeface="Arial Unicode MS" pitchFamily="34" charset="-128"/>
                <a:cs typeface="Arial" pitchFamily="34" charset="0"/>
              </a:rPr>
              <a:t>                                                    Barquisimeto – Lara.</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sz="1800" b="0" i="0" u="none" strike="noStrike" cap="none" normalizeH="0" baseline="0" dirty="0" smtClean="0">
              <a:ln>
                <a:noFill/>
              </a:ln>
              <a:solidFill>
                <a:schemeClr val="tx1"/>
              </a:solidFill>
              <a:effectLst/>
              <a:latin typeface="Arial" pitchFamily="34" charset="0"/>
            </a:endParaRPr>
          </a:p>
        </p:txBody>
      </p:sp>
    </p:spTree>
  </p:cSld>
  <p:clrMapOvr>
    <a:masterClrMapping/>
  </p:clrMapOvr>
  <p:transition spd="med">
    <p:newsflash/>
    <p:sndAc>
      <p:stSnd>
        <p:snd r:embed="rId2" name="chimes.wav" builtIn="1"/>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1"/>
          <p:cNvSpPr>
            <a:spLocks noChangeArrowheads="1"/>
          </p:cNvSpPr>
          <p:nvPr/>
        </p:nvSpPr>
        <p:spPr bwMode="auto">
          <a:xfrm>
            <a:off x="0" y="0"/>
            <a:ext cx="9144000"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27013" algn="ctr"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dirty="0" smtClean="0">
              <a:ln>
                <a:noFill/>
              </a:ln>
              <a:solidFill>
                <a:schemeClr val="tx1"/>
              </a:solidFill>
              <a:effectLst/>
              <a:latin typeface="Arial" pitchFamily="34" charset="0"/>
            </a:endParaRPr>
          </a:p>
          <a:p>
            <a:pPr marL="0" marR="0" lvl="0" indent="227013" algn="ctr"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dirty="0" smtClean="0">
              <a:ln>
                <a:noFill/>
              </a:ln>
              <a:solidFill>
                <a:schemeClr val="tx1"/>
              </a:solidFill>
              <a:effectLst/>
              <a:latin typeface="Arial" pitchFamily="34" charset="0"/>
            </a:endParaRPr>
          </a:p>
        </p:txBody>
      </p:sp>
      <p:sp>
        <p:nvSpPr>
          <p:cNvPr id="3" name="2 Rectángulo"/>
          <p:cNvSpPr/>
          <p:nvPr/>
        </p:nvSpPr>
        <p:spPr>
          <a:xfrm>
            <a:off x="3766555" y="785794"/>
            <a:ext cx="1610890" cy="338554"/>
          </a:xfrm>
          <a:prstGeom prst="rect">
            <a:avLst/>
          </a:prstGeom>
        </p:spPr>
        <p:txBody>
          <a:bodyPr wrap="square">
            <a:spAutoFit/>
          </a:bodyPr>
          <a:lstStyle/>
          <a:p>
            <a:pPr algn="ctr"/>
            <a:r>
              <a:rPr lang="es-ES" sz="1600" i="1" u="sng" dirty="0">
                <a:latin typeface="Arial" pitchFamily="34" charset="0"/>
                <a:cs typeface="Arial" pitchFamily="34" charset="0"/>
              </a:rPr>
              <a:t>Ansoff, H. Igor </a:t>
            </a:r>
          </a:p>
        </p:txBody>
      </p:sp>
      <p:sp>
        <p:nvSpPr>
          <p:cNvPr id="4" name="3 Rectángulo"/>
          <p:cNvSpPr/>
          <p:nvPr/>
        </p:nvSpPr>
        <p:spPr>
          <a:xfrm>
            <a:off x="214282" y="1071545"/>
            <a:ext cx="8572560" cy="4154984"/>
          </a:xfrm>
          <a:prstGeom prst="rect">
            <a:avLst/>
          </a:prstGeom>
        </p:spPr>
        <p:txBody>
          <a:bodyPr wrap="square">
            <a:spAutoFit/>
          </a:bodyPr>
          <a:lstStyle/>
          <a:p>
            <a:pPr marL="720000" algn="just">
              <a:lnSpc>
                <a:spcPct val="150000"/>
              </a:lnSpc>
            </a:pPr>
            <a:r>
              <a:rPr lang="es-ES" sz="1600" dirty="0">
                <a:latin typeface="Arial" pitchFamily="34" charset="0"/>
                <a:cs typeface="Arial" pitchFamily="34" charset="0"/>
              </a:rPr>
              <a:t>Está considerado el pionero de la introducción de la cultura del pensamiento estratégico en el mundo empresarial y académico. Ha sido el primer autor de un libro sobre estrategia empresarial, introductor de los conceptos y términos que han servido de base para todo el amplio desarrollo que ha tenido en todo el mundo. Ha sido el maestro de la mayoría de los especialistas modernos que escriben sobre estrategia empresarial, facilitando su difusión a todos los niveles, dejando de ser un tema tabú, sólo apto para </a:t>
            </a:r>
            <a:r>
              <a:rPr lang="es-ES" sz="1600" dirty="0" smtClean="0">
                <a:latin typeface="Arial" pitchFamily="34" charset="0"/>
                <a:cs typeface="Arial" pitchFamily="34" charset="0"/>
              </a:rPr>
              <a:t>súper-especialistas</a:t>
            </a:r>
            <a:r>
              <a:rPr lang="es-ES" sz="1600" dirty="0">
                <a:latin typeface="Arial" pitchFamily="34" charset="0"/>
                <a:cs typeface="Arial" pitchFamily="34" charset="0"/>
              </a:rPr>
              <a:t>. El libro en cuestión se publicó en Estados Unidos en 1965, editorial McGrow-Hill, bajo el título "</a:t>
            </a:r>
            <a:r>
              <a:rPr lang="es-ES" sz="1600" i="1" dirty="0">
                <a:latin typeface="Arial" pitchFamily="34" charset="0"/>
                <a:cs typeface="Arial" pitchFamily="34" charset="0"/>
              </a:rPr>
              <a:t>Corporate Strategy</a:t>
            </a:r>
            <a:r>
              <a:rPr lang="es-ES" sz="1600" dirty="0">
                <a:latin typeface="Arial" pitchFamily="34" charset="0"/>
                <a:cs typeface="Arial" pitchFamily="34" charset="0"/>
              </a:rPr>
              <a:t>". Su traducción y edición no llegó a España hasta el año 1976, de la mano del Instituto de Estudios Superiores de la Empresa, IESE, en plena época de la llamada planificación a largo plazo (PLP</a:t>
            </a:r>
            <a:r>
              <a:rPr lang="es-ES" sz="1600" dirty="0" smtClean="0">
                <a:latin typeface="Arial" pitchFamily="34" charset="0"/>
                <a:cs typeface="Arial" pitchFamily="34" charset="0"/>
              </a:rPr>
              <a:t>).</a:t>
            </a:r>
          </a:p>
        </p:txBody>
      </p:sp>
    </p:spTree>
  </p:cSld>
  <p:clrMapOvr>
    <a:masterClrMapping/>
  </p:clrMapOvr>
  <p:transition spd="slow">
    <p:wedge/>
    <p:sndAc>
      <p:stSnd>
        <p:snd r:embed="rId2" name="click.wav" builtIn="1"/>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0" y="642918"/>
            <a:ext cx="8643966" cy="3785652"/>
          </a:xfrm>
          <a:prstGeom prst="rect">
            <a:avLst/>
          </a:prstGeom>
        </p:spPr>
        <p:txBody>
          <a:bodyPr wrap="square">
            <a:spAutoFit/>
          </a:bodyPr>
          <a:lstStyle/>
          <a:p>
            <a:pPr marL="720000" algn="just">
              <a:lnSpc>
                <a:spcPct val="150000"/>
              </a:lnSpc>
            </a:pPr>
            <a:r>
              <a:rPr lang="es-ES" sz="1600" dirty="0">
                <a:latin typeface="Arial" pitchFamily="34" charset="0"/>
                <a:cs typeface="Arial" pitchFamily="34" charset="0"/>
              </a:rPr>
              <a:t>Ansoff es profesor de Dirección Estratégica en la Universidad Internacional de San Diego, California, y profesor visitante de la Stockholm School of Economics, en Estocolmo, Suecia. Anteriormente ha sido profesor en el Instituto Europeo de Estudios Avanzados en Management, Bélgica; decano y profesor de Management en la Universidad de Vanderbilt, Nashville, Tennessee; profesor de Dirección Industrial, en la Universidad de Carnegie-</a:t>
            </a:r>
            <a:r>
              <a:rPr lang="es-ES" sz="1600" dirty="0" err="1">
                <a:latin typeface="Arial" pitchFamily="34" charset="0"/>
                <a:cs typeface="Arial" pitchFamily="34" charset="0"/>
              </a:rPr>
              <a:t>Mellon</a:t>
            </a:r>
            <a:r>
              <a:rPr lang="es-ES" sz="1600" dirty="0">
                <a:latin typeface="Arial" pitchFamily="34" charset="0"/>
                <a:cs typeface="Arial" pitchFamily="34" charset="0"/>
              </a:rPr>
              <a:t>, en Pittsburgh, Pennsylvania; y Vice-Presidente y Director General de la división de Tecnología Industrial en la Lockheed Electronics Company. Además, ha presidido la Strategic Management Society y miembro de la Board Management Analysis Center, Cambridge, Massachusetts</a:t>
            </a:r>
            <a:r>
              <a:rPr lang="es-ES" sz="1600" dirty="0" smtClean="0">
                <a:latin typeface="Arial" pitchFamily="34" charset="0"/>
                <a:cs typeface="Arial" pitchFamily="34" charset="0"/>
              </a:rPr>
              <a:t>.</a:t>
            </a:r>
          </a:p>
          <a:p>
            <a:pPr marL="720000" algn="just">
              <a:lnSpc>
                <a:spcPct val="150000"/>
              </a:lnSpc>
            </a:pPr>
            <a:endParaRPr lang="es-ES" sz="1600" dirty="0">
              <a:latin typeface="Arial" pitchFamily="34" charset="0"/>
              <a:cs typeface="Arial" pitchFamily="34" charset="0"/>
            </a:endParaRPr>
          </a:p>
        </p:txBody>
      </p:sp>
      <p:pic>
        <p:nvPicPr>
          <p:cNvPr id="3" name="il_fi" descr="http://upload.wikimedia.org/wikipedia/en/0/08/Igor_Ansoff.jpg"/>
          <p:cNvPicPr/>
          <p:nvPr/>
        </p:nvPicPr>
        <p:blipFill>
          <a:blip r:embed="rId3"/>
          <a:srcRect/>
          <a:stretch>
            <a:fillRect/>
          </a:stretch>
        </p:blipFill>
        <p:spPr bwMode="auto">
          <a:xfrm>
            <a:off x="6715140" y="3714752"/>
            <a:ext cx="1681162" cy="2071702"/>
          </a:xfrm>
          <a:prstGeom prst="roundRect">
            <a:avLst>
              <a:gd name="adj" fmla="val 16667"/>
            </a:avLst>
          </a:prstGeom>
          <a:ln>
            <a:noFill/>
          </a:ln>
          <a:effectLst>
            <a:outerShdw blurRad="76200" dist="38100" dir="7800000" algn="tl" rotWithShape="0">
              <a:srgbClr val="000000">
                <a:alpha val="40000"/>
              </a:srgbClr>
            </a:outerShdw>
            <a:reflection blurRad="6350" stA="50000" endA="300" endPos="55000" dir="5400000" sy="-100000" algn="bl" rotWithShape="0"/>
          </a:effectLst>
          <a:scene3d>
            <a:camera prst="orthographicFront"/>
            <a:lightRig rig="contrasting" dir="t">
              <a:rot lat="0" lon="0" rev="4200000"/>
            </a:lightRig>
          </a:scene3d>
          <a:sp3d prstMaterial="plastic">
            <a:bevelT w="381000" h="114300" prst="relaxedInset"/>
            <a:contourClr>
              <a:srgbClr val="969696"/>
            </a:contourClr>
          </a:sp3d>
        </p:spPr>
      </p:pic>
      <p:pic>
        <p:nvPicPr>
          <p:cNvPr id="4" name="il_fi" descr="http://www.owen.vanderbilt.edu/vanderbilt/newsroom/publications/images/DeanProfsMeeting_1.jpg"/>
          <p:cNvPicPr/>
          <p:nvPr/>
        </p:nvPicPr>
        <p:blipFill>
          <a:blip r:embed="rId4"/>
          <a:srcRect/>
          <a:stretch>
            <a:fillRect/>
          </a:stretch>
        </p:blipFill>
        <p:spPr bwMode="auto">
          <a:xfrm>
            <a:off x="1714480" y="4214818"/>
            <a:ext cx="3500462" cy="2047881"/>
          </a:xfrm>
          <a:prstGeom prst="rect">
            <a:avLst/>
          </a:prstGeom>
          <a:solidFill>
            <a:srgbClr val="FFFFFF">
              <a:shade val="85000"/>
            </a:srgbClr>
          </a:solidFill>
          <a:ln w="88900" cap="sq">
            <a:solidFill>
              <a:schemeClr val="accent6">
                <a:lumMod val="75000"/>
              </a:schemeClr>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spd="slow">
    <p:zoom/>
    <p:sndAc>
      <p:stSnd>
        <p:snd r:embed="rId2" name="click.wav" builtIn="1"/>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0" y="642919"/>
            <a:ext cx="8786842" cy="3462486"/>
          </a:xfrm>
          <a:prstGeom prst="rect">
            <a:avLst/>
          </a:prstGeom>
        </p:spPr>
        <p:txBody>
          <a:bodyPr wrap="square">
            <a:spAutoFit/>
          </a:bodyPr>
          <a:lstStyle/>
          <a:p>
            <a:pPr marL="720000" algn="just">
              <a:lnSpc>
                <a:spcPct val="150000"/>
              </a:lnSpc>
            </a:pPr>
            <a:r>
              <a:rPr lang="es-ES" sz="1600" dirty="0" smtClean="0">
                <a:latin typeface="Arial" pitchFamily="34" charset="0"/>
                <a:cs typeface="Arial" pitchFamily="34" charset="0"/>
              </a:rPr>
              <a:t>En la actualidad nos hemos viniendo topando con una serie de estrategias del Mercado que nos ayudado a comprender la evolución de cada uno de los productos, identificar las oportunidades de crecimiento de cada uno de ellos dependiendo del tipo de producto que deseamos introducir en el Mercado. Basándonos en una serie de normas y estrategias de marketing que es de gran ayuda para los mercadologos permitiendo así mantener el orden y el control de la organización mediantes planes de Mercado y poder posicionar o mantener de manera constante y evolutiva los productos en una buen posición de ventas. </a:t>
            </a:r>
          </a:p>
          <a:p>
            <a:pPr marL="720000" algn="just">
              <a:lnSpc>
                <a:spcPct val="150000"/>
              </a:lnSpc>
            </a:pPr>
            <a:endParaRPr lang="es-ES" dirty="0"/>
          </a:p>
        </p:txBody>
      </p:sp>
      <p:pic>
        <p:nvPicPr>
          <p:cNvPr id="3" name="Imagen 1" descr="http://managersmagazine.com/wp-content/uploads/2009/03/Matriz-MK3.gif?v=1271823623169"/>
          <p:cNvPicPr>
            <a:picLocks noChangeAspect="1" noChangeArrowheads="1"/>
          </p:cNvPicPr>
          <p:nvPr/>
        </p:nvPicPr>
        <p:blipFill>
          <a:blip r:embed="rId3"/>
          <a:srcRect/>
          <a:stretch>
            <a:fillRect/>
          </a:stretch>
        </p:blipFill>
        <p:spPr bwMode="auto">
          <a:xfrm>
            <a:off x="4214810" y="3500438"/>
            <a:ext cx="3214710" cy="3131726"/>
          </a:xfrm>
          <a:prstGeom prst="roundRect">
            <a:avLst>
              <a:gd name="adj" fmla="val 16667"/>
            </a:avLst>
          </a:prstGeom>
          <a:ln w="12700">
            <a:solidFill>
              <a:schemeClr val="accent6">
                <a:lumMod val="75000"/>
              </a:schemeClr>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transition spd="slow">
    <p:pull dir="ld"/>
    <p:sndAc>
      <p:stSnd>
        <p:snd r:embed="rId2" name="click.wav" builtIn="1"/>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571472" y="785794"/>
            <a:ext cx="8215370" cy="4662815"/>
          </a:xfrm>
          <a:prstGeom prst="rect">
            <a:avLst/>
          </a:prstGeom>
        </p:spPr>
        <p:txBody>
          <a:bodyPr wrap="square">
            <a:spAutoFit/>
          </a:bodyPr>
          <a:lstStyle/>
          <a:p>
            <a:pPr marL="720000" algn="just">
              <a:lnSpc>
                <a:spcPct val="150000"/>
              </a:lnSpc>
            </a:pPr>
            <a:endParaRPr lang="es-ES" dirty="0" smtClean="0"/>
          </a:p>
          <a:p>
            <a:pPr marL="720000" algn="just">
              <a:lnSpc>
                <a:spcPct val="150000"/>
              </a:lnSpc>
            </a:pPr>
            <a:endParaRPr lang="es-ES" dirty="0"/>
          </a:p>
          <a:p>
            <a:pPr marL="720000" algn="just">
              <a:lnSpc>
                <a:spcPct val="150000"/>
              </a:lnSpc>
            </a:pPr>
            <a:endParaRPr lang="es-ES" dirty="0" smtClean="0"/>
          </a:p>
          <a:p>
            <a:pPr marL="720000" algn="just">
              <a:lnSpc>
                <a:spcPct val="150000"/>
              </a:lnSpc>
            </a:pPr>
            <a:endParaRPr lang="es-ES" dirty="0"/>
          </a:p>
          <a:p>
            <a:pPr marL="720000" algn="just">
              <a:lnSpc>
                <a:spcPct val="150000"/>
              </a:lnSpc>
            </a:pPr>
            <a:endParaRPr lang="es-ES" dirty="0" smtClean="0"/>
          </a:p>
          <a:p>
            <a:pPr marL="720000" algn="just">
              <a:lnSpc>
                <a:spcPct val="150000"/>
              </a:lnSpc>
            </a:pPr>
            <a:endParaRPr lang="es-ES" dirty="0"/>
          </a:p>
          <a:p>
            <a:pPr marL="720000" algn="just">
              <a:lnSpc>
                <a:spcPct val="150000"/>
              </a:lnSpc>
            </a:pPr>
            <a:endParaRPr lang="es-ES" dirty="0" smtClean="0"/>
          </a:p>
          <a:p>
            <a:pPr marL="720000" algn="just">
              <a:lnSpc>
                <a:spcPct val="150000"/>
              </a:lnSpc>
            </a:pPr>
            <a:endParaRPr lang="es-ES" dirty="0"/>
          </a:p>
          <a:p>
            <a:pPr marL="720000">
              <a:lnSpc>
                <a:spcPct val="150000"/>
              </a:lnSpc>
            </a:pPr>
            <a:r>
              <a:rPr lang="es-ES" dirty="0"/>
              <a:t/>
            </a:r>
            <a:br>
              <a:rPr lang="es-ES" dirty="0"/>
            </a:br>
            <a:r>
              <a:rPr lang="es-ES" dirty="0"/>
              <a:t/>
            </a:r>
            <a:br>
              <a:rPr lang="es-ES" dirty="0"/>
            </a:br>
            <a:endParaRPr lang="es-ES" dirty="0"/>
          </a:p>
        </p:txBody>
      </p:sp>
      <p:sp>
        <p:nvSpPr>
          <p:cNvPr id="53250" name="Rectangle 2"/>
          <p:cNvSpPr>
            <a:spLocks noChangeArrowheads="1"/>
          </p:cNvSpPr>
          <p:nvPr/>
        </p:nvSpPr>
        <p:spPr bwMode="auto">
          <a:xfrm>
            <a:off x="0" y="785794"/>
            <a:ext cx="8786842" cy="526297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720000" marR="0" lvl="0" indent="0" algn="just" defTabSz="914400" rtl="0" eaLnBrk="1" fontAlgn="base" latinLnBrk="0" hangingPunct="1">
              <a:lnSpc>
                <a:spcPct val="15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Por una variedad de razones, hay momentos en que en los negocios se desea o necesita ampliar o cambiar el mercado. Puede ser necesario, por ejemplo, lograr economías de escala, ganar más dinero de inversores, mayor ganancia o incluso el reconocimiento mundial de la marca. De forma equivalente, un individuo que necesita ampliar o cambiar su ámbito, puede que desee cambiar de compañía, o incluso de carrera.</a:t>
            </a:r>
            <a:endParaRPr lang="es-ES" sz="1600" dirty="0">
              <a:latin typeface="Arial" pitchFamily="34" charset="0"/>
              <a:ea typeface="Times New Roman" pitchFamily="18" charset="0"/>
              <a:cs typeface="Arial" pitchFamily="34" charset="0"/>
            </a:endParaRPr>
          </a:p>
          <a:p>
            <a:pPr marL="720000" algn="just" fontAlgn="base">
              <a:lnSpc>
                <a:spcPct val="150000"/>
              </a:lnSpc>
              <a:spcBef>
                <a:spcPct val="0"/>
              </a:spcBef>
              <a:spcAft>
                <a:spcPct val="0"/>
              </a:spcAft>
            </a:pPr>
            <a:endParaRPr lang="es-ES" sz="1600" dirty="0" smtClean="0">
              <a:latin typeface="Arial" pitchFamily="34" charset="0"/>
              <a:cs typeface="Arial" pitchFamily="34" charset="0"/>
            </a:endParaRPr>
          </a:p>
          <a:p>
            <a:pPr marL="720000" algn="just" fontAlgn="base">
              <a:lnSpc>
                <a:spcPct val="150000"/>
              </a:lnSpc>
              <a:spcBef>
                <a:spcPct val="0"/>
              </a:spcBef>
              <a:spcAft>
                <a:spcPct val="0"/>
              </a:spcAft>
            </a:pPr>
            <a:r>
              <a:rPr lang="es-ES" sz="1600" dirty="0" smtClean="0">
                <a:latin typeface="Arial" pitchFamily="34" charset="0"/>
                <a:cs typeface="Arial" pitchFamily="34" charset="0"/>
              </a:rPr>
              <a:t>El </a:t>
            </a:r>
            <a:r>
              <a:rPr lang="es-ES" sz="1600" dirty="0">
                <a:latin typeface="Arial" pitchFamily="34" charset="0"/>
                <a:cs typeface="Arial" pitchFamily="34" charset="0"/>
              </a:rPr>
              <a:t>uso de un enfoque estratégico, como el modelo Ansoff, le ayuda a evaluar sus opciones y elegir la que mejor se adapte a su situación y le dé el mejor retorno de la inversión potencial. Es una herramienta de marketing creada por Igor Ansoff y publicada por primera vez en su artículo “Estrategias para la Diversificación” en la Harvard Business Review (1957</a:t>
            </a:r>
            <a:r>
              <a:rPr lang="es-ES" sz="1600" dirty="0" smtClean="0">
                <a:latin typeface="Arial" pitchFamily="34" charset="0"/>
                <a:cs typeface="Arial" pitchFamily="34" charset="0"/>
              </a:rPr>
              <a:t>).</a:t>
            </a:r>
          </a:p>
          <a:p>
            <a:pPr marL="720000" algn="just" fontAlgn="base">
              <a:lnSpc>
                <a:spcPct val="150000"/>
              </a:lnSpc>
              <a:spcBef>
                <a:spcPct val="0"/>
              </a:spcBef>
              <a:spcAft>
                <a:spcPct val="0"/>
              </a:spcAft>
            </a:pPr>
            <a:endParaRPr lang="es-ES" sz="1600" dirty="0"/>
          </a:p>
          <a:p>
            <a:pPr marL="720000" marR="0" lvl="0" indent="0" algn="just" defTabSz="914400" rtl="0" eaLnBrk="1" fontAlgn="base" latinLnBrk="0" hangingPunct="1">
              <a:lnSpc>
                <a:spcPct val="150000"/>
              </a:lnSpc>
              <a:spcBef>
                <a:spcPct val="0"/>
              </a:spcBef>
              <a:spcAft>
                <a:spcPct val="0"/>
              </a:spcAft>
              <a:buClrTx/>
              <a:buSzTx/>
              <a:buFontTx/>
              <a:buNone/>
              <a:tabLst/>
            </a:pPr>
            <a:endParaRPr kumimoji="0" lang="es-ES" sz="16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p:txBody>
      </p:sp>
    </p:spTree>
  </p:cSld>
  <p:clrMapOvr>
    <a:masterClrMapping/>
  </p:clrMapOvr>
  <p:transition spd="slow">
    <p:wheel spokes="8"/>
    <p:sndAc>
      <p:stSnd>
        <p:snd r:embed="rId2" name="click.wav" builtIn="1"/>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1"/>
          <p:cNvSpPr>
            <a:spLocks noChangeArrowheads="1"/>
          </p:cNvSpPr>
          <p:nvPr/>
        </p:nvSpPr>
        <p:spPr bwMode="auto">
          <a:xfrm>
            <a:off x="0" y="714356"/>
            <a:ext cx="8786842" cy="15696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720000" marR="0" lvl="0" indent="0" algn="just" defTabSz="914400" rtl="0" eaLnBrk="1" fontAlgn="base" latinLnBrk="0" hangingPunct="1">
              <a:lnSpc>
                <a:spcPct val="15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La </a:t>
            </a:r>
            <a:r>
              <a:rPr kumimoji="0" lang="es-ES" sz="160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Matriz de Ansoff </a:t>
            </a:r>
            <a:r>
              <a:rPr kumimoji="0" lang="es-ES" sz="16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(Matriz Producto/Mercado o Vector de Crecimiento) muestra cuatro opciones de crecimiento para las empresas formadas al confrontar los productos/servicios existentes y los nuevos con los mercados existentes y los nuevos.</a:t>
            </a:r>
          </a:p>
          <a:p>
            <a:pPr marL="720000" marR="0" lvl="0" indent="0" algn="just" defTabSz="914400" rtl="0" eaLnBrk="1" fontAlgn="base" latinLnBrk="0" hangingPunct="1">
              <a:lnSpc>
                <a:spcPct val="150000"/>
              </a:lnSpc>
              <a:spcBef>
                <a:spcPct val="0"/>
              </a:spcBef>
              <a:spcAft>
                <a:spcPct val="0"/>
              </a:spcAft>
              <a:buClrTx/>
              <a:buSzTx/>
              <a:buFontTx/>
              <a:buNone/>
              <a:tabLst/>
            </a:pP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p:txBody>
      </p:sp>
      <p:pic>
        <p:nvPicPr>
          <p:cNvPr id="3" name="2 Imagen" descr="http://ventadirecta.files.wordpress.com/2010/07/ansoff.png?w=396&amp;h=271"/>
          <p:cNvPicPr/>
          <p:nvPr/>
        </p:nvPicPr>
        <p:blipFill>
          <a:blip r:embed="rId3"/>
          <a:srcRect/>
          <a:stretch>
            <a:fillRect/>
          </a:stretch>
        </p:blipFill>
        <p:spPr bwMode="auto">
          <a:xfrm>
            <a:off x="2428860" y="2357430"/>
            <a:ext cx="4500594" cy="3362340"/>
          </a:xfrm>
          <a:prstGeom prst="snip2DiagRect">
            <a:avLst/>
          </a:prstGeom>
          <a:solidFill>
            <a:srgbClr val="FFFFFF">
              <a:shade val="85000"/>
            </a:srgbClr>
          </a:solidFill>
          <a:ln w="19050" cap="sq">
            <a:solidFill>
              <a:schemeClr val="accent4">
                <a:lumMod val="75000"/>
              </a:schemeClr>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spd="slow">
    <p:wedge/>
    <p:sndAc>
      <p:stSnd>
        <p:snd r:embed="rId2" name="click.wav" builtIn="1"/>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1"/>
          <p:cNvSpPr>
            <a:spLocks noChangeArrowheads="1"/>
          </p:cNvSpPr>
          <p:nvPr/>
        </p:nvSpPr>
        <p:spPr bwMode="auto">
          <a:xfrm>
            <a:off x="0" y="785794"/>
            <a:ext cx="8501090" cy="563231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720000" marR="0" lvl="0" indent="0" algn="just" defTabSz="914400" rtl="0" eaLnBrk="1" fontAlgn="base" latinLnBrk="0" hangingPunct="1">
              <a:lnSpc>
                <a:spcPct val="150000"/>
              </a:lnSpc>
              <a:spcBef>
                <a:spcPct val="0"/>
              </a:spcBef>
              <a:spcAft>
                <a:spcPct val="0"/>
              </a:spcAft>
              <a:buClrTx/>
              <a:buSzTx/>
              <a:buFontTx/>
              <a:buNone/>
              <a:tabLst/>
            </a:pPr>
            <a:r>
              <a:rPr kumimoji="0" lang="es-VE" sz="1600" i="0" u="none" strike="noStrike" cap="none" normalizeH="0" baseline="0" dirty="0" smtClean="0">
                <a:ln>
                  <a:noFill/>
                </a:ln>
                <a:solidFill>
                  <a:schemeClr val="tx1"/>
                </a:solidFill>
                <a:effectLst/>
                <a:latin typeface="Arial" pitchFamily="34" charset="0"/>
                <a:ea typeface="Calibri" pitchFamily="34" charset="0"/>
                <a:cs typeface="Arial" pitchFamily="34" charset="0"/>
              </a:rPr>
              <a:t>La matriz de Ansoff</a:t>
            </a:r>
            <a:r>
              <a:rPr kumimoji="0" lang="es-VE" sz="16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Se representa del siguiente modo:  </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720000" marR="0" lvl="0" indent="0" algn="just" defTabSz="914400" rtl="0" eaLnBrk="0" fontAlgn="base" latinLnBrk="0" hangingPunct="0">
              <a:lnSpc>
                <a:spcPct val="150000"/>
              </a:lnSpc>
              <a:spcBef>
                <a:spcPct val="0"/>
              </a:spcBef>
              <a:spcAft>
                <a:spcPct val="0"/>
              </a:spcAft>
              <a:buClrTx/>
              <a:buSzTx/>
              <a:tabLst/>
            </a:pPr>
            <a:r>
              <a:rPr kumimoji="0" lang="es-VE" sz="1600" i="0" u="none" strike="noStrike" cap="none" normalizeH="0" baseline="0" dirty="0" smtClean="0">
                <a:ln>
                  <a:noFill/>
                </a:ln>
                <a:solidFill>
                  <a:schemeClr val="tx1"/>
                </a:solidFill>
                <a:effectLst/>
                <a:latin typeface="Arial" pitchFamily="34" charset="0"/>
                <a:ea typeface="Calibri" pitchFamily="34" charset="0"/>
                <a:cs typeface="Arial" pitchFamily="34" charset="0"/>
              </a:rPr>
              <a:t>Penetración en el mercado</a:t>
            </a:r>
            <a:r>
              <a:rPr kumimoji="0" lang="es-VE" sz="16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Se persigue un mayor consumo de los productos actuales en los mercados actuales.  </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720000" marR="0" lvl="0" indent="0" algn="just" defTabSz="914400" rtl="0" eaLnBrk="0" fontAlgn="base" latinLnBrk="0" hangingPunct="0">
              <a:lnSpc>
                <a:spcPct val="150000"/>
              </a:lnSpc>
              <a:spcBef>
                <a:spcPct val="0"/>
              </a:spcBef>
              <a:spcAft>
                <a:spcPct val="0"/>
              </a:spcAft>
              <a:buClrTx/>
              <a:buSzTx/>
              <a:buFontTx/>
              <a:buChar char="•"/>
              <a:tabLst/>
            </a:pP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Aumento del consumo por los clientes/usuarios actuales: </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720000" marR="0" lvl="0" indent="0" algn="just" defTabSz="914400" rtl="0" eaLnBrk="0" fontAlgn="base" latinLnBrk="0" hangingPunct="0">
              <a:lnSpc>
                <a:spcPct val="150000"/>
              </a:lnSpc>
              <a:spcBef>
                <a:spcPct val="0"/>
              </a:spcBef>
              <a:spcAft>
                <a:spcPct val="0"/>
              </a:spcAft>
              <a:buClrTx/>
              <a:buSzTx/>
              <a:buFontTx/>
              <a:buChar char="•"/>
              <a:tabLst/>
            </a:pP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Mayor unidad de compra.</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720000" marR="0" lvl="0" indent="0" algn="just" defTabSz="914400" rtl="0" eaLnBrk="0" fontAlgn="base" latinLnBrk="0" hangingPunct="0">
              <a:lnSpc>
                <a:spcPct val="150000"/>
              </a:lnSpc>
              <a:spcBef>
                <a:spcPct val="0"/>
              </a:spcBef>
              <a:spcAft>
                <a:spcPct val="0"/>
              </a:spcAft>
              <a:buClrTx/>
              <a:buSzTx/>
              <a:buFontTx/>
              <a:buChar char="•"/>
              <a:tabLst/>
            </a:pP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Menor vida útil del producto. </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720000" marR="0" lvl="0" indent="0" algn="just" defTabSz="914400" rtl="0" eaLnBrk="0" fontAlgn="base" latinLnBrk="0" hangingPunct="0">
              <a:lnSpc>
                <a:spcPct val="150000"/>
              </a:lnSpc>
              <a:spcBef>
                <a:spcPct val="0"/>
              </a:spcBef>
              <a:spcAft>
                <a:spcPct val="0"/>
              </a:spcAft>
              <a:buClrTx/>
              <a:buSzTx/>
              <a:buFontTx/>
              <a:buChar char="•"/>
              <a:tabLst/>
            </a:pP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Nuevos usos del producto. </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720000" marR="0" lvl="0" indent="0" algn="just" defTabSz="914400" rtl="0" eaLnBrk="0" fontAlgn="base" latinLnBrk="0" hangingPunct="0">
              <a:lnSpc>
                <a:spcPct val="150000"/>
              </a:lnSpc>
              <a:spcBef>
                <a:spcPct val="0"/>
              </a:spcBef>
              <a:spcAft>
                <a:spcPct val="0"/>
              </a:spcAft>
              <a:buClrTx/>
              <a:buSzTx/>
              <a:buFontTx/>
              <a:buChar char="•"/>
              <a:tabLst/>
            </a:pP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Incentivos económicos para aumentar el consumo.  </a:t>
            </a:r>
          </a:p>
          <a:p>
            <a:pPr marL="720000" marR="0" lvl="0" indent="0" algn="just" defTabSz="914400" rtl="0" eaLnBrk="0" fontAlgn="base" latinLnBrk="0" hangingPunct="0">
              <a:lnSpc>
                <a:spcPct val="150000"/>
              </a:lnSpc>
              <a:spcBef>
                <a:spcPct val="0"/>
              </a:spcBef>
              <a:spcAft>
                <a:spcPct val="0"/>
              </a:spcAft>
              <a:buClrTx/>
              <a:buSzTx/>
              <a:buFontTx/>
              <a:buChar char="•"/>
              <a:tabLst/>
            </a:pPr>
            <a:endParaRPr lang="es-VE" sz="1600" dirty="0">
              <a:latin typeface="Arial" pitchFamily="34" charset="0"/>
              <a:cs typeface="Arial" pitchFamily="34" charset="0"/>
            </a:endParaRPr>
          </a:p>
          <a:p>
            <a:pPr marL="720000" lvl="0" algn="just" eaLnBrk="0" fontAlgn="base" hangingPunct="0">
              <a:lnSpc>
                <a:spcPct val="150000"/>
              </a:lnSpc>
              <a:spcBef>
                <a:spcPct val="0"/>
              </a:spcBef>
              <a:spcAft>
                <a:spcPct val="0"/>
              </a:spcAft>
            </a:pPr>
            <a:r>
              <a:rPr lang="es-VE" sz="1600" dirty="0" smtClean="0">
                <a:latin typeface="Arial" pitchFamily="34" charset="0"/>
                <a:cs typeface="Arial" pitchFamily="34" charset="0"/>
              </a:rPr>
              <a:t>Esto quiere decir </a:t>
            </a:r>
            <a:r>
              <a:rPr lang="es-ES" sz="1600" dirty="0" smtClean="0">
                <a:latin typeface="Arial" pitchFamily="34" charset="0"/>
                <a:cs typeface="Arial" pitchFamily="34" charset="0"/>
              </a:rPr>
              <a:t>que la </a:t>
            </a:r>
            <a:r>
              <a:rPr lang="es-ES" sz="1600" dirty="0">
                <a:latin typeface="Arial" pitchFamily="34" charset="0"/>
                <a:cs typeface="Arial" pitchFamily="34" charset="0"/>
              </a:rPr>
              <a:t>estrategia de penetración de mercado debe realizarse cuando la empresa tiene una participación baja (o no ha llegado a un liderazgo claro) o cuando el mercado está en franco </a:t>
            </a:r>
            <a:r>
              <a:rPr lang="es-ES" sz="1600" dirty="0" smtClean="0">
                <a:latin typeface="Arial" pitchFamily="34" charset="0"/>
                <a:cs typeface="Arial" pitchFamily="34" charset="0"/>
              </a:rPr>
              <a:t>crecimiento, </a:t>
            </a:r>
            <a:r>
              <a:rPr lang="es-ES" sz="1600" dirty="0">
                <a:latin typeface="Arial" pitchFamily="34" charset="0"/>
                <a:cs typeface="Arial" pitchFamily="34" charset="0"/>
              </a:rPr>
              <a:t>Entre las herramientas para lograr este objetivo se encuentran, entre otras, los descuentos por volumen, un aumento de la </a:t>
            </a:r>
            <a:r>
              <a:rPr lang="es-ES" sz="1600" dirty="0" smtClean="0">
                <a:latin typeface="Arial" pitchFamily="34" charset="0"/>
                <a:cs typeface="Arial" pitchFamily="34" charset="0"/>
              </a:rPr>
              <a:t>inversión publicitaria, las </a:t>
            </a:r>
            <a:r>
              <a:rPr lang="es-ES" sz="1600" dirty="0">
                <a:latin typeface="Arial" pitchFamily="34" charset="0"/>
                <a:cs typeface="Arial" pitchFamily="34" charset="0"/>
              </a:rPr>
              <a:t>tarjetas de </a:t>
            </a:r>
            <a:r>
              <a:rPr lang="es-ES" sz="1600" dirty="0" smtClean="0">
                <a:latin typeface="Arial" pitchFamily="34" charset="0"/>
                <a:cs typeface="Arial" pitchFamily="34" charset="0"/>
              </a:rPr>
              <a:t>fidelidad </a:t>
            </a:r>
            <a:r>
              <a:rPr lang="es-ES" sz="1600" dirty="0">
                <a:latin typeface="Arial" pitchFamily="34" charset="0"/>
                <a:cs typeface="Arial" pitchFamily="34" charset="0"/>
              </a:rPr>
              <a:t>y una mayor </a:t>
            </a:r>
            <a:r>
              <a:rPr lang="es-ES" sz="1600" dirty="0" smtClean="0">
                <a:latin typeface="Arial" pitchFamily="34" charset="0"/>
                <a:cs typeface="Arial" pitchFamily="34" charset="0"/>
              </a:rPr>
              <a:t> penetración en el canal de distribución.</a:t>
            </a:r>
            <a:endParaRPr lang="es-VE" sz="1600" dirty="0">
              <a:latin typeface="Arial" pitchFamily="34" charset="0"/>
              <a:cs typeface="Arial" pitchFamily="34" charset="0"/>
            </a:endParaRPr>
          </a:p>
        </p:txBody>
      </p:sp>
    </p:spTree>
  </p:cSld>
  <p:clrMapOvr>
    <a:masterClrMapping/>
  </p:clrMapOvr>
  <p:transition spd="slow">
    <p:pull dir="ld"/>
    <p:sndAc>
      <p:stSnd>
        <p:snd r:embed="rId2" name="click.wav" builtIn="1"/>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1"/>
          <p:cNvSpPr>
            <a:spLocks noChangeArrowheads="1"/>
          </p:cNvSpPr>
          <p:nvPr/>
        </p:nvSpPr>
        <p:spPr bwMode="auto">
          <a:xfrm>
            <a:off x="0" y="642918"/>
            <a:ext cx="8786842" cy="563231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720000" marR="0" lvl="0" indent="0" algn="just" defTabSz="914400" rtl="0" eaLnBrk="1" fontAlgn="base" latinLnBrk="0" hangingPunct="1">
              <a:lnSpc>
                <a:spcPct val="150000"/>
              </a:lnSpc>
              <a:spcBef>
                <a:spcPct val="0"/>
              </a:spcBef>
              <a:spcAft>
                <a:spcPct val="0"/>
              </a:spcAft>
              <a:buClrTx/>
              <a:buSzTx/>
              <a:tabLst/>
            </a:pPr>
            <a:r>
              <a:rPr kumimoji="0" lang="es-VE" sz="1600" b="1" i="0" u="none" strike="noStrike" cap="none" normalizeH="0" baseline="0" dirty="0" smtClean="0">
                <a:ln>
                  <a:noFill/>
                </a:ln>
                <a:solidFill>
                  <a:schemeClr val="tx1"/>
                </a:solidFill>
                <a:effectLst/>
                <a:latin typeface="Arial" pitchFamily="34" charset="0"/>
                <a:ea typeface="Calibri" pitchFamily="34" charset="0"/>
                <a:cs typeface="Arial" pitchFamily="34" charset="0"/>
              </a:rPr>
              <a:t>Desarrollo del mercado: Pretende la venta de productos actuales en mercados nuevos.  </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720000" marR="0" lvl="0" indent="0" algn="just" defTabSz="914400" rtl="0" eaLnBrk="0" fontAlgn="base" latinLnBrk="0" hangingPunct="0">
              <a:lnSpc>
                <a:spcPct val="150000"/>
              </a:lnSpc>
              <a:spcBef>
                <a:spcPct val="0"/>
              </a:spcBef>
              <a:spcAft>
                <a:spcPct val="0"/>
              </a:spcAft>
              <a:buClrTx/>
              <a:buSzTx/>
              <a:tabLst/>
            </a:pP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a)Apertura de mercados geográficos adicionales: </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720000" marR="0" lvl="0" indent="0" algn="just" defTabSz="914400" rtl="0" eaLnBrk="0" fontAlgn="base" latinLnBrk="0" hangingPunct="0">
              <a:lnSpc>
                <a:spcPct val="150000"/>
              </a:lnSpc>
              <a:spcBef>
                <a:spcPct val="0"/>
              </a:spcBef>
              <a:spcAft>
                <a:spcPct val="0"/>
              </a:spcAft>
              <a:buClrTx/>
              <a:buSzTx/>
              <a:buFontTx/>
              <a:buChar char="•"/>
              <a:tabLst/>
            </a:pP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Expansión regional.</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720000" marR="0" lvl="0" indent="0" algn="just" defTabSz="914400" rtl="0" eaLnBrk="0" fontAlgn="base" latinLnBrk="0" hangingPunct="0">
              <a:lnSpc>
                <a:spcPct val="150000"/>
              </a:lnSpc>
              <a:spcBef>
                <a:spcPct val="0"/>
              </a:spcBef>
              <a:spcAft>
                <a:spcPct val="0"/>
              </a:spcAft>
              <a:buClrTx/>
              <a:buSzTx/>
              <a:buFontTx/>
              <a:buChar char="•"/>
              <a:tabLst/>
            </a:pP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Expansión nacional. </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720000" marR="0" lvl="0" indent="0" algn="just" defTabSz="914400" rtl="0" eaLnBrk="0" fontAlgn="base" latinLnBrk="0" hangingPunct="0">
              <a:lnSpc>
                <a:spcPct val="150000"/>
              </a:lnSpc>
              <a:spcBef>
                <a:spcPct val="0"/>
              </a:spcBef>
              <a:spcAft>
                <a:spcPct val="0"/>
              </a:spcAft>
              <a:buClrTx/>
              <a:buSzTx/>
              <a:buFontTx/>
              <a:buChar char="•"/>
              <a:tabLst/>
            </a:pP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Expansión internacional.</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720000" marR="0" lvl="0" indent="0" algn="just" defTabSz="914400" rtl="0" eaLnBrk="0" fontAlgn="base" latinLnBrk="0" hangingPunct="0">
              <a:lnSpc>
                <a:spcPct val="150000"/>
              </a:lnSpc>
              <a:spcBef>
                <a:spcPct val="0"/>
              </a:spcBef>
              <a:spcAft>
                <a:spcPct val="0"/>
              </a:spcAft>
              <a:buClrTx/>
              <a:buSzTx/>
              <a:buFontTx/>
              <a:buNone/>
              <a:tabLst/>
            </a:pP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b)Atracción de otros sectores del mercado: </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720000" marR="0" lvl="1" indent="0" algn="just" defTabSz="914400" rtl="0" eaLnBrk="0" fontAlgn="base" latinLnBrk="0" hangingPunct="0">
              <a:lnSpc>
                <a:spcPct val="150000"/>
              </a:lnSpc>
              <a:spcBef>
                <a:spcPct val="0"/>
              </a:spcBef>
              <a:spcAft>
                <a:spcPct val="0"/>
              </a:spcAft>
              <a:buClrTx/>
              <a:buSzTx/>
              <a:buFont typeface="Symbol" pitchFamily="18" charset="2"/>
              <a:buChar char=""/>
              <a:tabLst/>
            </a:pP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Desarrollo de nuevas versiones, envasados dirigidos a otros sectores del mercado. </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720000" marR="0" lvl="1" indent="0" algn="just" defTabSz="914400" rtl="0" eaLnBrk="0" fontAlgn="base" latinLnBrk="0" hangingPunct="0">
              <a:lnSpc>
                <a:spcPct val="150000"/>
              </a:lnSpc>
              <a:spcBef>
                <a:spcPct val="0"/>
              </a:spcBef>
              <a:spcAft>
                <a:spcPct val="0"/>
              </a:spcAft>
              <a:buClrTx/>
              <a:buSzTx/>
              <a:buFont typeface="Symbol" pitchFamily="18" charset="2"/>
              <a:buChar char=""/>
              <a:tabLst/>
            </a:pP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Aperturas de nuevos canales de distribución. </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720000" marR="0" lvl="1" indent="0" algn="just" defTabSz="914400" rtl="0" eaLnBrk="0" fontAlgn="base" latinLnBrk="0" hangingPunct="0">
              <a:lnSpc>
                <a:spcPct val="150000"/>
              </a:lnSpc>
              <a:spcBef>
                <a:spcPct val="0"/>
              </a:spcBef>
              <a:spcAft>
                <a:spcPct val="0"/>
              </a:spcAft>
              <a:buClrTx/>
              <a:buSzTx/>
              <a:buFont typeface="Symbol" pitchFamily="18" charset="2"/>
              <a:buChar char=""/>
              <a:tabLst/>
            </a:pP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Publicidad en otros medios.  </a:t>
            </a:r>
          </a:p>
          <a:p>
            <a:pPr marL="720000" marR="0" lvl="1" indent="0" algn="just" defTabSz="914400" rtl="0" eaLnBrk="0" fontAlgn="base" latinLnBrk="0" hangingPunct="0">
              <a:lnSpc>
                <a:spcPct val="150000"/>
              </a:lnSpc>
              <a:spcBef>
                <a:spcPct val="0"/>
              </a:spcBef>
              <a:spcAft>
                <a:spcPct val="0"/>
              </a:spcAft>
              <a:buClrTx/>
              <a:buSzTx/>
              <a:tabLst/>
            </a:pPr>
            <a:endParaRPr lang="es-VE" sz="1600" dirty="0" smtClean="0">
              <a:latin typeface="Arial" pitchFamily="34" charset="0"/>
              <a:ea typeface="Calibri" pitchFamily="34" charset="0"/>
              <a:cs typeface="Arial" pitchFamily="34" charset="0"/>
            </a:endParaRPr>
          </a:p>
          <a:p>
            <a:pPr marL="720000" marR="0" lvl="1" indent="0" algn="just" defTabSz="914400" rtl="0" eaLnBrk="0" fontAlgn="base" latinLnBrk="0" hangingPunct="0">
              <a:lnSpc>
                <a:spcPct val="150000"/>
              </a:lnSpc>
              <a:spcBef>
                <a:spcPct val="0"/>
              </a:spcBef>
              <a:spcAft>
                <a:spcPct val="0"/>
              </a:spcAft>
              <a:buClrTx/>
              <a:buSzTx/>
              <a:tabLst/>
            </a:pPr>
            <a:r>
              <a:rPr lang="es-VE" sz="1600" dirty="0" smtClean="0">
                <a:latin typeface="Arial" pitchFamily="34" charset="0"/>
                <a:ea typeface="Calibri" pitchFamily="34" charset="0"/>
                <a:cs typeface="Arial" pitchFamily="34" charset="0"/>
              </a:rPr>
              <a:t>Normalmente, esta opción se utiliza cuando la empresa ya tiene una participación importante en su mercado original y ha desarrollado suficientes productos para sus clientes, pero aun desea expandirse, por lo que se dedica a desarrollar mercados. </a:t>
            </a:r>
            <a:endPar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endParaRPr>
          </a:p>
          <a:p>
            <a:pPr marL="720000" marR="0" lvl="1" indent="0" algn="just" defTabSz="914400" rtl="0" eaLnBrk="0" fontAlgn="base" latinLnBrk="0" hangingPunct="0">
              <a:lnSpc>
                <a:spcPct val="150000"/>
              </a:lnSpc>
              <a:spcBef>
                <a:spcPct val="0"/>
              </a:spcBef>
              <a:spcAft>
                <a:spcPct val="0"/>
              </a:spcAft>
              <a:buClrTx/>
              <a:buSzTx/>
              <a:tabLst/>
            </a:pPr>
            <a:endParaRPr kumimoji="0" lang="es-VE" sz="16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spd="slow">
    <p:zoom/>
    <p:sndAc>
      <p:stSnd>
        <p:snd r:embed="rId2" name="click.wav" builtIn="1"/>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1"/>
          <p:cNvSpPr>
            <a:spLocks noChangeArrowheads="1"/>
          </p:cNvSpPr>
          <p:nvPr/>
        </p:nvSpPr>
        <p:spPr bwMode="auto">
          <a:xfrm>
            <a:off x="0" y="714356"/>
            <a:ext cx="8715404" cy="58785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720000" marR="0" lvl="0" indent="0" algn="just" defTabSz="914400" rtl="0" eaLnBrk="1" fontAlgn="base" latinLnBrk="0" hangingPunct="1">
              <a:lnSpc>
                <a:spcPct val="150000"/>
              </a:lnSpc>
              <a:spcBef>
                <a:spcPct val="0"/>
              </a:spcBef>
              <a:spcAft>
                <a:spcPct val="0"/>
              </a:spcAft>
              <a:buClrTx/>
              <a:buSzTx/>
              <a:tabLst/>
            </a:pPr>
            <a:r>
              <a:rPr kumimoji="0" lang="es-VE" sz="1600" b="1" i="0" u="none" strike="noStrike" cap="none" normalizeH="0" baseline="0" dirty="0" smtClean="0">
                <a:ln>
                  <a:noFill/>
                </a:ln>
                <a:solidFill>
                  <a:schemeClr val="tx1"/>
                </a:solidFill>
                <a:effectLst/>
                <a:latin typeface="Arial" pitchFamily="34" charset="0"/>
                <a:ea typeface="Calibri" pitchFamily="34" charset="0"/>
                <a:cs typeface="Arial" pitchFamily="34" charset="0"/>
              </a:rPr>
              <a:t>Desarrollo del producto: </a:t>
            </a: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Persigue la venta de nuevos productos en los mercados actuales, normalmente explotando la situación comercial y la estructura de la compañía para obtener una mayor rentabilidad de su esfuerzo comercial.</a:t>
            </a:r>
            <a:r>
              <a:rPr kumimoji="0" lang="es-VE" sz="16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720000" marR="0" lvl="0" indent="0" algn="just" defTabSz="914400" rtl="0" eaLnBrk="0" fontAlgn="base" latinLnBrk="0" hangingPunct="0">
              <a:lnSpc>
                <a:spcPct val="150000"/>
              </a:lnSpc>
              <a:spcBef>
                <a:spcPct val="0"/>
              </a:spcBef>
              <a:spcAft>
                <a:spcPct val="0"/>
              </a:spcAft>
              <a:buClrTx/>
              <a:buSzTx/>
              <a:tabLst/>
            </a:pP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a)Desarrollo de nuevos valores del producto. </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720000" marR="0" lvl="1" indent="0" algn="just" defTabSz="914400" rtl="0" eaLnBrk="0" fontAlgn="base" latinLnBrk="0" hangingPunct="0">
              <a:lnSpc>
                <a:spcPct val="150000"/>
              </a:lnSpc>
              <a:spcBef>
                <a:spcPct val="0"/>
              </a:spcBef>
              <a:spcAft>
                <a:spcPct val="0"/>
              </a:spcAft>
              <a:buClrTx/>
              <a:buSzTx/>
              <a:buFont typeface="Symbol" pitchFamily="18" charset="2"/>
              <a:buChar char=""/>
              <a:tabLst/>
            </a:pP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Modificaciones (de color, movimiento, sonido, sabor, olor, forma, modelo). </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720000" marR="0" lvl="1" indent="0" algn="just" defTabSz="914400" rtl="0" eaLnBrk="0" fontAlgn="base" latinLnBrk="0" hangingPunct="0">
              <a:lnSpc>
                <a:spcPct val="150000"/>
              </a:lnSpc>
              <a:spcBef>
                <a:spcPct val="0"/>
              </a:spcBef>
              <a:spcAft>
                <a:spcPct val="0"/>
              </a:spcAft>
              <a:buClrTx/>
              <a:buSzTx/>
              <a:buFont typeface="Symbol" pitchFamily="18" charset="2"/>
              <a:buChar char=""/>
              <a:tabLst/>
            </a:pP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Ampliaciones (Más fuerte, más largo, más grueso, valor extra). </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720000" marR="0" lvl="1" indent="0" algn="just" defTabSz="914400" rtl="0" eaLnBrk="0" fontAlgn="base" latinLnBrk="0" hangingPunct="0">
              <a:lnSpc>
                <a:spcPct val="150000"/>
              </a:lnSpc>
              <a:spcBef>
                <a:spcPct val="0"/>
              </a:spcBef>
              <a:spcAft>
                <a:spcPct val="0"/>
              </a:spcAft>
              <a:buClrTx/>
              <a:buSzTx/>
              <a:buFont typeface="Symbol" pitchFamily="18" charset="2"/>
              <a:buChar char=""/>
              <a:tabLst/>
            </a:pP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Disminuciones (Más pequeño más corto, más ligero). </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720000" marR="0" lvl="1" indent="0" algn="just" defTabSz="914400" rtl="0" eaLnBrk="0" fontAlgn="base" latinLnBrk="0" hangingPunct="0">
              <a:lnSpc>
                <a:spcPct val="150000"/>
              </a:lnSpc>
              <a:spcBef>
                <a:spcPct val="0"/>
              </a:spcBef>
              <a:spcAft>
                <a:spcPct val="0"/>
              </a:spcAft>
              <a:buClrTx/>
              <a:buSzTx/>
              <a:buFont typeface="Symbol" pitchFamily="18" charset="2"/>
              <a:buChar char=""/>
              <a:tabLst/>
            </a:pP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Sustitución (otros ingredientes, otro proceso, otra potencia). </a:t>
            </a:r>
          </a:p>
          <a:p>
            <a:pPr marL="720000" lvl="1" algn="just">
              <a:lnSpc>
                <a:spcPct val="150000"/>
              </a:lnSpc>
              <a:buFont typeface="Arial" pitchFamily="34" charset="0"/>
              <a:buChar char="•"/>
            </a:pPr>
            <a:r>
              <a:rPr lang="es-VE" sz="1600" dirty="0">
                <a:latin typeface="Arial" pitchFamily="34" charset="0"/>
                <a:cs typeface="Arial" pitchFamily="34" charset="0"/>
              </a:rPr>
              <a:t>Remedado (otros patrones, presentación, componentes). </a:t>
            </a:r>
            <a:endParaRPr lang="es-ES" sz="1600" dirty="0">
              <a:latin typeface="Arial" pitchFamily="34" charset="0"/>
              <a:cs typeface="Arial" pitchFamily="34" charset="0"/>
            </a:endParaRPr>
          </a:p>
          <a:p>
            <a:pPr marL="720000" lvl="1" algn="just">
              <a:lnSpc>
                <a:spcPct val="150000"/>
              </a:lnSpc>
              <a:buFont typeface="Arial" pitchFamily="34" charset="0"/>
              <a:buChar char="•"/>
            </a:pPr>
            <a:r>
              <a:rPr lang="es-VE" sz="1600" dirty="0">
                <a:latin typeface="Arial" pitchFamily="34" charset="0"/>
                <a:cs typeface="Arial" pitchFamily="34" charset="0"/>
              </a:rPr>
              <a:t>Combinación (mezcla, surtido, montaje, fines, ideas).  </a:t>
            </a:r>
            <a:endParaRPr lang="es-ES" sz="1600" dirty="0">
              <a:latin typeface="Arial" pitchFamily="34" charset="0"/>
              <a:cs typeface="Arial" pitchFamily="34" charset="0"/>
            </a:endParaRPr>
          </a:p>
          <a:p>
            <a:pPr algn="just"/>
            <a:r>
              <a:rPr lang="es-VE" sz="1600" dirty="0">
                <a:latin typeface="Arial" pitchFamily="34" charset="0"/>
                <a:cs typeface="Arial" pitchFamily="34" charset="0"/>
              </a:rPr>
              <a:t> </a:t>
            </a:r>
            <a:endParaRPr lang="es-ES" sz="1600" dirty="0">
              <a:latin typeface="Arial" pitchFamily="34" charset="0"/>
              <a:cs typeface="Arial" pitchFamily="34" charset="0"/>
            </a:endParaRPr>
          </a:p>
          <a:p>
            <a:pPr marL="720000" lvl="0" algn="just">
              <a:lnSpc>
                <a:spcPct val="150000"/>
              </a:lnSpc>
            </a:pPr>
            <a:r>
              <a:rPr lang="es-VE" sz="1600" dirty="0" smtClean="0">
                <a:latin typeface="Arial" pitchFamily="34" charset="0"/>
                <a:cs typeface="Arial" pitchFamily="34" charset="0"/>
              </a:rPr>
              <a:t>b)Desarrollo </a:t>
            </a:r>
            <a:r>
              <a:rPr lang="es-VE" sz="1600" dirty="0">
                <a:latin typeface="Arial" pitchFamily="34" charset="0"/>
                <a:cs typeface="Arial" pitchFamily="34" charset="0"/>
              </a:rPr>
              <a:t>de diferencias de calidad (nuevas gamas). </a:t>
            </a:r>
            <a:endParaRPr lang="es-ES" sz="1600" dirty="0">
              <a:latin typeface="Arial" pitchFamily="34" charset="0"/>
              <a:cs typeface="Arial" pitchFamily="34" charset="0"/>
            </a:endParaRPr>
          </a:p>
          <a:p>
            <a:pPr marL="720000" algn="just">
              <a:lnSpc>
                <a:spcPct val="150000"/>
              </a:lnSpc>
            </a:pPr>
            <a:r>
              <a:rPr lang="es-VE" sz="1600" dirty="0">
                <a:latin typeface="Arial" pitchFamily="34" charset="0"/>
                <a:cs typeface="Arial" pitchFamily="34" charset="0"/>
              </a:rPr>
              <a:t> </a:t>
            </a:r>
            <a:endParaRPr lang="es-ES" sz="1600" dirty="0">
              <a:latin typeface="Arial" pitchFamily="34" charset="0"/>
              <a:cs typeface="Arial" pitchFamily="34" charset="0"/>
            </a:endParaRPr>
          </a:p>
          <a:p>
            <a:pPr marL="720000" lvl="0" algn="just">
              <a:lnSpc>
                <a:spcPct val="150000"/>
              </a:lnSpc>
            </a:pPr>
            <a:r>
              <a:rPr lang="es-VE" sz="1600" dirty="0" smtClean="0">
                <a:latin typeface="Arial" pitchFamily="34" charset="0"/>
                <a:cs typeface="Arial" pitchFamily="34" charset="0"/>
              </a:rPr>
              <a:t>c)Desarrollo </a:t>
            </a:r>
            <a:r>
              <a:rPr lang="es-VE" sz="1600" dirty="0">
                <a:latin typeface="Arial" pitchFamily="34" charset="0"/>
                <a:cs typeface="Arial" pitchFamily="34" charset="0"/>
              </a:rPr>
              <a:t>de nuevos modelos y/o tamaños.  </a:t>
            </a:r>
            <a:endParaRPr lang="es-ES" sz="1600" dirty="0">
              <a:latin typeface="Arial" pitchFamily="34" charset="0"/>
              <a:cs typeface="Arial" pitchFamily="34" charset="0"/>
            </a:endParaRPr>
          </a:p>
          <a:p>
            <a:pPr marL="720000" marR="0" lvl="1" indent="0" algn="just" defTabSz="914400" rtl="0" eaLnBrk="0" fontAlgn="base" latinLnBrk="0" hangingPunct="0">
              <a:lnSpc>
                <a:spcPct val="150000"/>
              </a:lnSpc>
              <a:spcBef>
                <a:spcPct val="0"/>
              </a:spcBef>
              <a:spcAft>
                <a:spcPct val="0"/>
              </a:spcAft>
              <a:buClrTx/>
              <a:buSzTx/>
              <a:tabLst/>
            </a:pPr>
            <a:endPar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endParaRPr>
          </a:p>
          <a:p>
            <a:pPr marL="720000" marR="0" lvl="1" indent="0" algn="just" defTabSz="914400" rtl="0" eaLnBrk="0" fontAlgn="base" latinLnBrk="0" hangingPunct="0">
              <a:lnSpc>
                <a:spcPct val="150000"/>
              </a:lnSpc>
              <a:spcBef>
                <a:spcPct val="0"/>
              </a:spcBef>
              <a:spcAft>
                <a:spcPct val="0"/>
              </a:spcAft>
              <a:buClrTx/>
              <a:buSzTx/>
              <a:buFont typeface="Symbol" pitchFamily="18" charset="2"/>
              <a:buChar char=""/>
              <a:tabLst/>
            </a:pPr>
            <a:endParaRPr kumimoji="0" lang="es-VE" sz="1600" b="0" i="0" u="none" strike="noStrike" cap="none" normalizeH="0" baseline="0" dirty="0" smtClean="0">
              <a:ln>
                <a:noFill/>
              </a:ln>
              <a:solidFill>
                <a:schemeClr val="tx1"/>
              </a:solidFill>
              <a:effectLst/>
              <a:latin typeface="Arial" pitchFamily="34" charset="0"/>
              <a:cs typeface="Arial" pitchFamily="34" charset="0"/>
            </a:endParaRPr>
          </a:p>
        </p:txBody>
      </p:sp>
      <p:pic>
        <p:nvPicPr>
          <p:cNvPr id="3" name="il_fi" descr="http://3.bp.blogspot.com/_mbC2IKfKrWU/S9dfonWX87I/AAAAAAAAAAw/IsgrWsGxD8E/s1600/Sedal.jpg"/>
          <p:cNvPicPr/>
          <p:nvPr/>
        </p:nvPicPr>
        <p:blipFill>
          <a:blip r:embed="rId3"/>
          <a:srcRect/>
          <a:stretch>
            <a:fillRect/>
          </a:stretch>
        </p:blipFill>
        <p:spPr bwMode="auto">
          <a:xfrm>
            <a:off x="6072198" y="3143248"/>
            <a:ext cx="2857520" cy="3490920"/>
          </a:xfrm>
          <a:prstGeom prst="ellipse">
            <a:avLst/>
          </a:prstGeom>
          <a:ln>
            <a:noFill/>
          </a:ln>
          <a:effectLst>
            <a:softEdge rad="112500"/>
          </a:effectLst>
        </p:spPr>
      </p:pic>
    </p:spTree>
  </p:cSld>
  <p:clrMapOvr>
    <a:masterClrMapping/>
  </p:clrMapOvr>
  <p:transition spd="slow">
    <p:wheel spokes="8"/>
    <p:sndAc>
      <p:stSnd>
        <p:snd r:embed="rId2" name="click.wav" builtIn="1"/>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1"/>
          <p:cNvSpPr>
            <a:spLocks noChangeArrowheads="1"/>
          </p:cNvSpPr>
          <p:nvPr/>
        </p:nvSpPr>
        <p:spPr bwMode="auto">
          <a:xfrm>
            <a:off x="0" y="285728"/>
            <a:ext cx="8786842" cy="24006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720000" marR="0" lvl="0" indent="0" algn="l" defTabSz="914400" rtl="0" eaLnBrk="1" fontAlgn="base" latinLnBrk="0" hangingPunct="1">
              <a:lnSpc>
                <a:spcPct val="150000"/>
              </a:lnSpc>
              <a:spcBef>
                <a:spcPct val="0"/>
              </a:spcBef>
              <a:spcAft>
                <a:spcPct val="0"/>
              </a:spcAft>
              <a:buClrTx/>
              <a:buSzTx/>
              <a:buFontTx/>
              <a:buNone/>
              <a:tabLst/>
            </a:pPr>
            <a:endParaRPr kumimoji="0" lang="es-ES" sz="1800" b="0" i="0" u="none" strike="noStrike" cap="none" normalizeH="0" baseline="0" dirty="0" smtClean="0">
              <a:ln>
                <a:noFill/>
              </a:ln>
              <a:solidFill>
                <a:schemeClr val="tx1"/>
              </a:solidFill>
              <a:effectLst/>
              <a:latin typeface="Arial" pitchFamily="34" charset="0"/>
            </a:endParaRPr>
          </a:p>
          <a:p>
            <a:pPr marL="720000" marR="0" lvl="0" indent="0" algn="just" defTabSz="914400" rtl="0" eaLnBrk="0" fontAlgn="base" latinLnBrk="0" hangingPunct="0">
              <a:lnSpc>
                <a:spcPct val="150000"/>
              </a:lnSpc>
              <a:spcBef>
                <a:spcPct val="0"/>
              </a:spcBef>
              <a:spcAft>
                <a:spcPct val="0"/>
              </a:spcAft>
              <a:buClrTx/>
              <a:buSzTx/>
              <a:tabLst/>
            </a:pPr>
            <a:r>
              <a:rPr lang="es-VE" sz="1600" dirty="0" smtClean="0">
                <a:solidFill>
                  <a:srgbClr val="000000"/>
                </a:solidFill>
                <a:latin typeface="Arial" pitchFamily="34" charset="0"/>
                <a:ea typeface="Times New Roman" pitchFamily="18" charset="0"/>
                <a:cs typeface="Arial" pitchFamily="34" charset="0"/>
              </a:rPr>
              <a:t>Al innovar un producto se </a:t>
            </a:r>
            <a:r>
              <a:rPr lang="es-VE" sz="1600" dirty="0">
                <a:solidFill>
                  <a:srgbClr val="000000"/>
                </a:solidFill>
                <a:latin typeface="Arial" pitchFamily="34" charset="0"/>
                <a:ea typeface="Times New Roman" pitchFamily="18" charset="0"/>
                <a:cs typeface="Arial" pitchFamily="34" charset="0"/>
              </a:rPr>
              <a:t>t</a:t>
            </a:r>
            <a:r>
              <a:rPr lang="es-VE" sz="1600" dirty="0" smtClean="0">
                <a:solidFill>
                  <a:srgbClr val="000000"/>
                </a:solidFill>
                <a:latin typeface="Arial" pitchFamily="34" charset="0"/>
                <a:ea typeface="Times New Roman" pitchFamily="18" charset="0"/>
                <a:cs typeface="Arial" pitchFamily="34" charset="0"/>
              </a:rPr>
              <a:t>iene la ventaja de poder  </a:t>
            </a:r>
            <a:r>
              <a:rPr kumimoji="0" lang="es-VE" sz="1600" b="0" i="0" u="none" strike="noStrike" cap="none" normalizeH="0" baseline="0" dirty="0" smtClean="0">
                <a:ln>
                  <a:noFill/>
                </a:ln>
                <a:solidFill>
                  <a:srgbClr val="000000"/>
                </a:solidFill>
                <a:effectLst/>
                <a:latin typeface="Arial" pitchFamily="34" charset="0"/>
                <a:ea typeface="Times New Roman" pitchFamily="18" charset="0"/>
                <a:cs typeface="Arial" pitchFamily="34" charset="0"/>
              </a:rPr>
              <a:t>obtener mejores ganancias y poder entonces desarrollar nuevos valores de los productos, mejor calidad y nuevos modelos y presentaciones de los productos.</a:t>
            </a:r>
          </a:p>
          <a:p>
            <a:pPr marL="720000" marR="0" lvl="0" indent="0" algn="l" defTabSz="914400" rtl="0" eaLnBrk="0" fontAlgn="base" latinLnBrk="0" hangingPunct="0">
              <a:lnSpc>
                <a:spcPct val="150000"/>
              </a:lnSpc>
              <a:spcBef>
                <a:spcPct val="0"/>
              </a:spcBef>
              <a:spcAft>
                <a:spcPct val="0"/>
              </a:spcAft>
              <a:buClrTx/>
              <a:buSzTx/>
              <a:tabLst/>
            </a:pPr>
            <a:endParaRPr kumimoji="0" lang="es-ES" sz="1600" b="0" i="0" u="none" strike="noStrike" cap="none" normalizeH="0" baseline="0" dirty="0" smtClean="0">
              <a:ln>
                <a:noFill/>
              </a:ln>
              <a:solidFill>
                <a:schemeClr val="tx1"/>
              </a:solidFill>
              <a:effectLst/>
              <a:latin typeface="Arial" pitchFamily="34" charset="0"/>
            </a:endParaRPr>
          </a:p>
          <a:p>
            <a:pPr marL="720000" marR="0" lvl="0" indent="0" algn="l" defTabSz="914400" rtl="0" eaLnBrk="0" fontAlgn="base" latinLnBrk="0" hangingPunct="0">
              <a:lnSpc>
                <a:spcPct val="150000"/>
              </a:lnSpc>
              <a:spcBef>
                <a:spcPct val="0"/>
              </a:spcBef>
              <a:spcAft>
                <a:spcPct val="0"/>
              </a:spcAft>
              <a:buClrTx/>
              <a:buSzTx/>
              <a:buFontTx/>
              <a:buNone/>
              <a:tabLst/>
            </a:pPr>
            <a:endParaRPr kumimoji="0" lang="es-ES" sz="1800" b="0" i="0" u="none" strike="noStrike" cap="none" normalizeH="0" baseline="0" dirty="0" smtClean="0">
              <a:ln>
                <a:noFill/>
              </a:ln>
              <a:solidFill>
                <a:schemeClr val="tx1"/>
              </a:solidFill>
              <a:effectLst/>
              <a:latin typeface="Arial" pitchFamily="34" charset="0"/>
            </a:endParaRPr>
          </a:p>
        </p:txBody>
      </p:sp>
      <p:pic>
        <p:nvPicPr>
          <p:cNvPr id="3" name="il_fi" descr="http://1.bp.blogspot.com/_rfoDwTrxOqk/TSZHg4o9IRI/AAAAAAAAABo/9nnokqBYerU/s1600/producto.jpg"/>
          <p:cNvPicPr/>
          <p:nvPr/>
        </p:nvPicPr>
        <p:blipFill>
          <a:blip r:embed="rId3"/>
          <a:srcRect/>
          <a:stretch>
            <a:fillRect/>
          </a:stretch>
        </p:blipFill>
        <p:spPr bwMode="auto">
          <a:xfrm>
            <a:off x="928662" y="2500306"/>
            <a:ext cx="3990975" cy="3457575"/>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4" name="il_fi" descr="http://www.felipedevilla.com/wp-content/uploads/2011/04/desarrollo-de-producto-150x150.gif"/>
          <p:cNvPicPr/>
          <p:nvPr/>
        </p:nvPicPr>
        <p:blipFill>
          <a:blip r:embed="rId4"/>
          <a:srcRect/>
          <a:stretch>
            <a:fillRect/>
          </a:stretch>
        </p:blipFill>
        <p:spPr bwMode="auto">
          <a:xfrm>
            <a:off x="5786446" y="2643182"/>
            <a:ext cx="2428892" cy="2214578"/>
          </a:xfrm>
          <a:prstGeom prst="rect">
            <a:avLst/>
          </a:prstGeom>
          <a:noFill/>
          <a:ln w="9525">
            <a:noFill/>
            <a:miter lim="800000"/>
            <a:headEnd/>
            <a:tailEnd/>
          </a:ln>
        </p:spPr>
      </p:pic>
    </p:spTree>
  </p:cSld>
  <p:clrMapOvr>
    <a:masterClrMapping/>
  </p:clrMapOvr>
  <p:transition spd="slow">
    <p:wedge/>
    <p:sndAc>
      <p:stSnd>
        <p:snd r:embed="rId2" name="click.wav" builtIn="1"/>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1"/>
          <p:cNvSpPr>
            <a:spLocks noChangeArrowheads="1"/>
          </p:cNvSpPr>
          <p:nvPr/>
        </p:nvSpPr>
        <p:spPr bwMode="auto">
          <a:xfrm>
            <a:off x="0" y="785793"/>
            <a:ext cx="8286776" cy="661719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720000" marR="0" lvl="0" indent="0" algn="just" defTabSz="914400" rtl="0" eaLnBrk="1" fontAlgn="base" latinLnBrk="0" hangingPunct="1">
              <a:lnSpc>
                <a:spcPct val="150000"/>
              </a:lnSpc>
              <a:spcBef>
                <a:spcPct val="0"/>
              </a:spcBef>
              <a:spcAft>
                <a:spcPct val="0"/>
              </a:spcAft>
              <a:buClrTx/>
              <a:buSzTx/>
              <a:buFontTx/>
              <a:buNone/>
              <a:tabLst/>
            </a:pPr>
            <a:r>
              <a:rPr kumimoji="0" lang="es-ES" sz="16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Diversificación</a:t>
            </a: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720000" marR="0" lvl="0" indent="0" algn="just" defTabSz="914400" rtl="0" eaLnBrk="0" fontAlgn="base" latinLnBrk="0" hangingPunct="0">
              <a:lnSpc>
                <a:spcPct val="150000"/>
              </a:lnSpc>
              <a:spcBef>
                <a:spcPct val="0"/>
              </a:spcBef>
              <a:spcAft>
                <a:spcPct val="0"/>
              </a:spcAft>
              <a:buClrTx/>
              <a:buSzTx/>
              <a:buFontTx/>
              <a:buNone/>
              <a:tabLst/>
            </a:pPr>
            <a:r>
              <a:rPr kumimoji="0" lang="es-ES" sz="16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Esta estrategia es arriesgada; Hay a menudo poco margen para utilizar los conocimientos existentes o la consecución de economías de escala, porque se está tratando de vender productos o servicios completamente diferentes y apuntando a clientes en mercados desconocidos.</a:t>
            </a:r>
          </a:p>
          <a:p>
            <a:pPr marL="720000" algn="just" eaLnBrk="0" fontAlgn="base" hangingPunct="0">
              <a:lnSpc>
                <a:spcPct val="150000"/>
              </a:lnSpc>
              <a:spcBef>
                <a:spcPct val="0"/>
              </a:spcBef>
              <a:spcAft>
                <a:spcPct val="0"/>
              </a:spcAft>
            </a:pPr>
            <a:r>
              <a:rPr lang="es-ES" sz="1600" dirty="0">
                <a:latin typeface="Arial" pitchFamily="34" charset="0"/>
                <a:cs typeface="Arial" pitchFamily="34" charset="0"/>
              </a:rPr>
              <a:t>Su principal ventaja es que, si un negocio sufre de circunstancias adversas, el otro es poco probable que sea afectado</a:t>
            </a:r>
            <a:r>
              <a:rPr lang="es-ES" sz="1600" dirty="0" smtClean="0">
                <a:latin typeface="Arial" pitchFamily="34" charset="0"/>
                <a:cs typeface="Arial" pitchFamily="34" charset="0"/>
              </a:rPr>
              <a:t>.</a:t>
            </a:r>
          </a:p>
          <a:p>
            <a:pPr marL="720000" lvl="0" algn="just" eaLnBrk="0" fontAlgn="base" hangingPunct="0">
              <a:lnSpc>
                <a:spcPct val="150000"/>
              </a:lnSpc>
              <a:spcBef>
                <a:spcPct val="0"/>
              </a:spcBef>
              <a:spcAft>
                <a:spcPct val="0"/>
              </a:spcAft>
            </a:pPr>
            <a:r>
              <a:rPr lang="es-VE" sz="1600" dirty="0" smtClean="0">
                <a:latin typeface="Arial" pitchFamily="34" charset="0"/>
                <a:cs typeface="Arial" pitchFamily="34" charset="0"/>
              </a:rPr>
              <a:t>De </a:t>
            </a:r>
            <a:r>
              <a:rPr lang="es-VE" sz="1600" dirty="0">
                <a:latin typeface="Arial" pitchFamily="34" charset="0"/>
                <a:cs typeface="Arial" pitchFamily="34" charset="0"/>
              </a:rPr>
              <a:t>igual manera existen distintos tipos de diversificación</a:t>
            </a:r>
            <a:r>
              <a:rPr lang="es-VE" sz="1600" dirty="0" smtClean="0">
                <a:latin typeface="Arial" pitchFamily="34" charset="0"/>
                <a:cs typeface="Arial" pitchFamily="34" charset="0"/>
              </a:rPr>
              <a:t>:</a:t>
            </a:r>
          </a:p>
          <a:p>
            <a:pPr algn="just"/>
            <a:endParaRPr lang="es-ES" sz="1600" dirty="0" smtClean="0">
              <a:latin typeface="Arial" pitchFamily="34" charset="0"/>
              <a:cs typeface="Arial" pitchFamily="34" charset="0"/>
            </a:endParaRPr>
          </a:p>
          <a:p>
            <a:pPr marL="720000" lvl="1" algn="just">
              <a:lnSpc>
                <a:spcPct val="150000"/>
              </a:lnSpc>
            </a:pPr>
            <a:r>
              <a:rPr lang="es-VE" sz="1600" dirty="0" smtClean="0">
                <a:latin typeface="Arial" pitchFamily="34" charset="0"/>
                <a:cs typeface="Arial" pitchFamily="34" charset="0"/>
              </a:rPr>
              <a:t>a)Diversificación </a:t>
            </a:r>
            <a:r>
              <a:rPr lang="es-VE" sz="1600" dirty="0">
                <a:latin typeface="Arial" pitchFamily="34" charset="0"/>
                <a:cs typeface="Arial" pitchFamily="34" charset="0"/>
              </a:rPr>
              <a:t>horizontal: Ocurre cuando se adquiere una empresa o se desarrollan productos, servicios o marcas que tienen aproximadamente el mismo target de clientes o uno similar pero satisfacen otras necesidades, por lo que constituyen nuevos mercados.</a:t>
            </a:r>
            <a:endParaRPr lang="es-ES" sz="1600" dirty="0">
              <a:latin typeface="Arial" pitchFamily="34" charset="0"/>
              <a:cs typeface="Arial" pitchFamily="34" charset="0"/>
            </a:endParaRPr>
          </a:p>
          <a:p>
            <a:pPr marL="720000" lvl="0" algn="just" eaLnBrk="0" fontAlgn="base" hangingPunct="0">
              <a:lnSpc>
                <a:spcPct val="150000"/>
              </a:lnSpc>
              <a:spcBef>
                <a:spcPct val="0"/>
              </a:spcBef>
              <a:spcAft>
                <a:spcPct val="0"/>
              </a:spcAft>
            </a:pPr>
            <a:endParaRPr lang="es-VE" sz="1600" dirty="0" smtClean="0">
              <a:latin typeface="Arial" pitchFamily="34" charset="0"/>
              <a:cs typeface="Arial" pitchFamily="34" charset="0"/>
            </a:endParaRPr>
          </a:p>
          <a:p>
            <a:pPr marL="720000" lvl="0" algn="just" eaLnBrk="0" fontAlgn="base" hangingPunct="0">
              <a:lnSpc>
                <a:spcPct val="150000"/>
              </a:lnSpc>
              <a:spcBef>
                <a:spcPct val="0"/>
              </a:spcBef>
              <a:spcAft>
                <a:spcPct val="0"/>
              </a:spcAft>
            </a:pPr>
            <a:endParaRPr lang="es-VE" sz="1600" dirty="0" smtClean="0">
              <a:latin typeface="Arial" pitchFamily="34" charset="0"/>
              <a:cs typeface="Arial" pitchFamily="34" charset="0"/>
            </a:endParaRPr>
          </a:p>
          <a:p>
            <a:pPr marL="720000" lvl="0" algn="just" eaLnBrk="0" fontAlgn="base" hangingPunct="0">
              <a:lnSpc>
                <a:spcPct val="150000"/>
              </a:lnSpc>
              <a:spcBef>
                <a:spcPct val="0"/>
              </a:spcBef>
              <a:spcAft>
                <a:spcPct val="0"/>
              </a:spcAft>
            </a:pPr>
            <a:endParaRPr lang="es-ES" sz="1600" dirty="0">
              <a:latin typeface="Arial" pitchFamily="34" charset="0"/>
              <a:cs typeface="Arial" pitchFamily="34" charset="0"/>
            </a:endParaRPr>
          </a:p>
          <a:p>
            <a:pPr marL="720000" algn="just" eaLnBrk="0" fontAlgn="base" hangingPunct="0">
              <a:lnSpc>
                <a:spcPct val="150000"/>
              </a:lnSpc>
              <a:spcBef>
                <a:spcPct val="0"/>
              </a:spcBef>
              <a:spcAft>
                <a:spcPct val="0"/>
              </a:spcAft>
            </a:pPr>
            <a:endParaRPr lang="es-ES" sz="1600" dirty="0">
              <a:latin typeface="Arial" pitchFamily="34" charset="0"/>
              <a:cs typeface="Arial" pitchFamily="34" charset="0"/>
            </a:endParaRPr>
          </a:p>
          <a:p>
            <a:pPr marL="720000" marR="0" lvl="0" indent="0" algn="just" defTabSz="914400" rtl="0" eaLnBrk="0" fontAlgn="base" latinLnBrk="0" hangingPunct="0">
              <a:lnSpc>
                <a:spcPct val="150000"/>
              </a:lnSpc>
              <a:spcBef>
                <a:spcPct val="0"/>
              </a:spcBef>
              <a:spcAft>
                <a:spcPct val="0"/>
              </a:spcAft>
              <a:buClrTx/>
              <a:buSzTx/>
              <a:buFontTx/>
              <a:buNone/>
              <a:tabLst/>
            </a:pP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spd="slow">
    <p:pull dir="ld"/>
    <p:sndAc>
      <p:stSnd>
        <p:snd r:embed="rId2" name="click.wav" builtIn="1"/>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1"/>
          <p:cNvSpPr>
            <a:spLocks noChangeArrowheads="1"/>
          </p:cNvSpPr>
          <p:nvPr/>
        </p:nvSpPr>
        <p:spPr bwMode="auto">
          <a:xfrm>
            <a:off x="0" y="714356"/>
            <a:ext cx="8286808" cy="715580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720000" algn="just">
              <a:lnSpc>
                <a:spcPct val="150000"/>
              </a:lnSpc>
            </a:pPr>
            <a:r>
              <a:rPr kumimoji="0" lang="es-VE" sz="1600" u="none" strike="noStrike" cap="none" normalizeH="0" baseline="0" dirty="0" smtClean="0">
                <a:ln>
                  <a:noFill/>
                </a:ln>
                <a:solidFill>
                  <a:srgbClr val="333333"/>
                </a:solidFill>
                <a:effectLst/>
                <a:latin typeface="Arial" pitchFamily="34" charset="0"/>
                <a:ea typeface="Calibri" pitchFamily="34" charset="0"/>
                <a:cs typeface="Arial" pitchFamily="34" charset="0"/>
              </a:rPr>
              <a:t>b)Diversificación vertical</a:t>
            </a:r>
            <a:r>
              <a:rPr kumimoji="0" lang="es-VE" sz="1600" b="0" i="0" u="none" strike="noStrike" cap="none" normalizeH="0" baseline="0" dirty="0" smtClean="0">
                <a:ln>
                  <a:noFill/>
                </a:ln>
                <a:solidFill>
                  <a:srgbClr val="333333"/>
                </a:solidFill>
                <a:effectLst/>
                <a:latin typeface="Arial" pitchFamily="34" charset="0"/>
                <a:ea typeface="Calibri" pitchFamily="34" charset="0"/>
                <a:cs typeface="Arial" pitchFamily="34" charset="0"/>
              </a:rPr>
              <a:t>: Ocurre cuando una empresa se integra hacia delante adquiriendo un cliente o ingresando en ese mercado o hacia atrás, cuando lo hace con un proveedor o entra en el mercado de los proveedores.</a:t>
            </a:r>
            <a:endParaRPr lang="es-ES" sz="1600" dirty="0" smtClean="0">
              <a:latin typeface="Arial" pitchFamily="34" charset="0"/>
              <a:cs typeface="Arial" pitchFamily="34" charset="0"/>
            </a:endParaRPr>
          </a:p>
          <a:p>
            <a:pPr marL="720000" algn="just">
              <a:lnSpc>
                <a:spcPct val="150000"/>
              </a:lnSpc>
            </a:pPr>
            <a:r>
              <a:rPr lang="es-VE" sz="1600" dirty="0" smtClean="0">
                <a:latin typeface="Arial" pitchFamily="34" charset="0"/>
                <a:cs typeface="Arial" pitchFamily="34" charset="0"/>
              </a:rPr>
              <a:t>c)Diversificación </a:t>
            </a:r>
            <a:r>
              <a:rPr lang="es-VE" sz="1600" dirty="0">
                <a:latin typeface="Arial" pitchFamily="34" charset="0"/>
                <a:cs typeface="Arial" pitchFamily="34" charset="0"/>
              </a:rPr>
              <a:t>concéntrica: Ocurre cuando la empresa entra o adquiere una compañía en un mercado que tiene alguna sinergia tecnológica, comercial o de producción con la empresa, pero no clientes o productos comunes</a:t>
            </a:r>
            <a:r>
              <a:rPr lang="es-VE" sz="1600" dirty="0" smtClean="0">
                <a:latin typeface="Arial" pitchFamily="34" charset="0"/>
                <a:cs typeface="Arial" pitchFamily="34" charset="0"/>
              </a:rPr>
              <a:t>. </a:t>
            </a:r>
            <a:endParaRPr lang="es-ES" sz="1600" dirty="0" smtClean="0">
              <a:latin typeface="Arial" pitchFamily="34" charset="0"/>
              <a:cs typeface="Arial" pitchFamily="34" charset="0"/>
            </a:endParaRPr>
          </a:p>
          <a:p>
            <a:pPr marL="720000" lvl="1" algn="just">
              <a:lnSpc>
                <a:spcPct val="150000"/>
              </a:lnSpc>
            </a:pPr>
            <a:r>
              <a:rPr lang="es-VE" sz="1600" dirty="0" smtClean="0">
                <a:latin typeface="Arial" pitchFamily="34" charset="0"/>
                <a:cs typeface="Arial" pitchFamily="34" charset="0"/>
              </a:rPr>
              <a:t>d)Diversificación </a:t>
            </a:r>
            <a:r>
              <a:rPr lang="es-VE" sz="1600" dirty="0">
                <a:latin typeface="Arial" pitchFamily="34" charset="0"/>
                <a:cs typeface="Arial" pitchFamily="34" charset="0"/>
              </a:rPr>
              <a:t>conglomerada: Ocurre cuando la empresa adquiere empresas o penetra en mercados que no tienen ninguna sinergia aparente con la firma, salvo el uso y la generación de efectivo. En general, las compañías utilizan esta estrategia cuando desean combinar un portafolio de negocios cíclicos con uno de negocios no cíclicos, o cuando ya han agotado todas las otras opciones y los accionistas no desean recibir altos dividendos, sino que esperan obtener ganancias a través del grupo empresario. </a:t>
            </a:r>
            <a:endParaRPr lang="es-ES" sz="1600" dirty="0">
              <a:latin typeface="Arial" pitchFamily="34" charset="0"/>
              <a:cs typeface="Arial" pitchFamily="34" charset="0"/>
            </a:endParaRPr>
          </a:p>
          <a:p>
            <a:pPr marL="720000" lvl="1" algn="just">
              <a:lnSpc>
                <a:spcPct val="150000"/>
              </a:lnSpc>
            </a:pPr>
            <a:endParaRPr lang="es-ES" sz="1600" dirty="0">
              <a:latin typeface="Arial" pitchFamily="34" charset="0"/>
              <a:cs typeface="Arial" pitchFamily="34" charset="0"/>
            </a:endParaRPr>
          </a:p>
          <a:p>
            <a:pPr marL="720000" lvl="8" algn="just" eaLnBrk="0" fontAlgn="base" hangingPunct="0">
              <a:lnSpc>
                <a:spcPct val="150000"/>
              </a:lnSpc>
              <a:spcBef>
                <a:spcPct val="0"/>
              </a:spcBef>
              <a:spcAft>
                <a:spcPct val="0"/>
              </a:spcAft>
            </a:pPr>
            <a:endParaRPr kumimoji="0" lang="es-VE" sz="1600" b="0" i="0" u="none" strike="noStrike" cap="none" normalizeH="0" baseline="0" dirty="0" smtClean="0">
              <a:ln>
                <a:noFill/>
              </a:ln>
              <a:solidFill>
                <a:srgbClr val="333333"/>
              </a:solidFill>
              <a:effectLst/>
              <a:latin typeface="Arial" pitchFamily="34" charset="0"/>
              <a:ea typeface="Calibri" pitchFamily="34" charset="0"/>
              <a:cs typeface="Arial" pitchFamily="34" charset="0"/>
            </a:endParaRPr>
          </a:p>
          <a:p>
            <a:pPr marL="720000" lvl="8" algn="just" eaLnBrk="0" fontAlgn="base" hangingPunct="0">
              <a:lnSpc>
                <a:spcPct val="150000"/>
              </a:lnSpc>
              <a:spcBef>
                <a:spcPct val="0"/>
              </a:spcBef>
              <a:spcAft>
                <a:spcPct val="0"/>
              </a:spcAft>
            </a:pPr>
            <a:endParaRPr kumimoji="0" lang="es-VE" sz="1600" b="0" i="0" u="none" strike="noStrike" cap="none" normalizeH="0" baseline="0" dirty="0" smtClean="0">
              <a:ln>
                <a:noFill/>
              </a:ln>
              <a:solidFill>
                <a:srgbClr val="333333"/>
              </a:solidFill>
              <a:effectLst/>
              <a:latin typeface="Arial" pitchFamily="34" charset="0"/>
              <a:ea typeface="Calibri" pitchFamily="34" charset="0"/>
              <a:cs typeface="Arial" pitchFamily="34" charset="0"/>
            </a:endParaRPr>
          </a:p>
          <a:p>
            <a:pPr marL="720000" lvl="8" algn="just" eaLnBrk="0" fontAlgn="base" hangingPunct="0">
              <a:lnSpc>
                <a:spcPct val="150000"/>
              </a:lnSpc>
              <a:spcBef>
                <a:spcPct val="0"/>
              </a:spcBef>
              <a:spcAft>
                <a:spcPct val="0"/>
              </a:spcAft>
            </a:pPr>
            <a:endParaRPr lang="es-VE" sz="1600" dirty="0">
              <a:solidFill>
                <a:srgbClr val="333333"/>
              </a:solidFill>
              <a:latin typeface="Arial" pitchFamily="34" charset="0"/>
              <a:cs typeface="Arial" pitchFamily="34" charset="0"/>
            </a:endParaRPr>
          </a:p>
          <a:p>
            <a:pPr marL="720000" lvl="8" algn="just" eaLnBrk="0" fontAlgn="base" hangingPunct="0">
              <a:lnSpc>
                <a:spcPct val="150000"/>
              </a:lnSpc>
              <a:spcBef>
                <a:spcPct val="0"/>
              </a:spcBef>
              <a:spcAft>
                <a:spcPct val="0"/>
              </a:spcAft>
            </a:pP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720000" marR="0" lvl="0" indent="0" algn="l" defTabSz="914400" rtl="0" eaLnBrk="0" fontAlgn="base" latinLnBrk="0" hangingPunct="0">
              <a:lnSpc>
                <a:spcPct val="150000"/>
              </a:lnSpc>
              <a:spcBef>
                <a:spcPct val="0"/>
              </a:spcBef>
              <a:spcAft>
                <a:spcPct val="0"/>
              </a:spcAft>
              <a:buClrTx/>
              <a:buSzTx/>
              <a:buFontTx/>
              <a:buNone/>
              <a:tabLst/>
            </a:pPr>
            <a:endParaRPr kumimoji="0" lang="es-ES" sz="1800" b="0" i="0" u="none" strike="noStrike" cap="none" normalizeH="0" baseline="0" dirty="0" smtClean="0">
              <a:ln>
                <a:noFill/>
              </a:ln>
              <a:solidFill>
                <a:schemeClr val="tx1"/>
              </a:solidFill>
              <a:effectLst/>
              <a:latin typeface="Arial" pitchFamily="34" charset="0"/>
            </a:endParaRPr>
          </a:p>
        </p:txBody>
      </p:sp>
      <p:sp>
        <p:nvSpPr>
          <p:cNvPr id="63491" name="Rectangle 3"/>
          <p:cNvSpPr>
            <a:spLocks noChangeArrowheads="1"/>
          </p:cNvSpPr>
          <p:nvPr/>
        </p:nvSpPr>
        <p:spPr bwMode="auto">
          <a:xfrm>
            <a:off x="0" y="0"/>
            <a:ext cx="684803" cy="83099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dirty="0" smtClean="0">
              <a:ln>
                <a:noFill/>
              </a:ln>
              <a:solidFill>
                <a:schemeClr val="tx1"/>
              </a:solidFill>
              <a:effectLst/>
              <a:latin typeface="Arial" pitchFamily="34" charset="0"/>
            </a:endParaRPr>
          </a:p>
          <a:p>
            <a:pPr marL="457200" marR="0" lvl="1" indent="0" algn="l" defTabSz="914400" rtl="0" eaLnBrk="0" fontAlgn="base" latinLnBrk="0" hangingPunct="0">
              <a:lnSpc>
                <a:spcPct val="100000"/>
              </a:lnSpc>
              <a:spcBef>
                <a:spcPct val="0"/>
              </a:spcBef>
              <a:spcAft>
                <a:spcPct val="0"/>
              </a:spcAft>
              <a:buClrTx/>
              <a:buSzTx/>
              <a:tabLst/>
            </a:pPr>
            <a:r>
              <a:rPr kumimoji="0" lang="es-VE" sz="1200" b="0" i="0" u="none" strike="noStrike" cap="none" normalizeH="0" baseline="0" dirty="0" smtClean="0">
                <a:ln>
                  <a:noFill/>
                </a:ln>
                <a:solidFill>
                  <a:srgbClr val="333333"/>
                </a:solidFill>
                <a:effectLst/>
                <a:latin typeface="Times New Roman" pitchFamily="18" charset="0"/>
                <a:ea typeface="Calibri" pitchFamily="34" charset="0"/>
                <a:cs typeface="Times New Roman" pitchFamily="18" charset="0"/>
              </a:rPr>
              <a:t>.</a:t>
            </a:r>
            <a:endParaRPr kumimoji="0" lang="es-ES" sz="1100" b="0" i="0" u="none" strike="noStrike" cap="none" normalizeH="0" baseline="0" dirty="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sz="1800" b="0" i="0" u="none" strike="noStrike" cap="none" normalizeH="0" baseline="0" dirty="0" smtClean="0">
              <a:ln>
                <a:noFill/>
              </a:ln>
              <a:solidFill>
                <a:schemeClr val="tx1"/>
              </a:solidFill>
              <a:effectLst/>
              <a:latin typeface="Arial" pitchFamily="34" charset="0"/>
            </a:endParaRPr>
          </a:p>
        </p:txBody>
      </p:sp>
      <p:pic>
        <p:nvPicPr>
          <p:cNvPr id="5" name="il_fi" descr="http://docenteperu.files.wordpress.com/2011/08/barras.jpg"/>
          <p:cNvPicPr/>
          <p:nvPr/>
        </p:nvPicPr>
        <p:blipFill>
          <a:blip r:embed="rId3"/>
          <a:srcRect/>
          <a:stretch>
            <a:fillRect/>
          </a:stretch>
        </p:blipFill>
        <p:spPr bwMode="auto">
          <a:xfrm>
            <a:off x="5000628" y="5214950"/>
            <a:ext cx="2714644" cy="1357322"/>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cSld>
  <p:clrMapOvr>
    <a:masterClrMapping/>
  </p:clrMapOvr>
  <p:transition spd="slow">
    <p:zoom/>
    <p:sndAc>
      <p:stSnd>
        <p:snd r:embed="rId2" name="click.wav" builtIn="1"/>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1"/>
          <p:cNvSpPr>
            <a:spLocks noChangeArrowheads="1"/>
          </p:cNvSpPr>
          <p:nvPr/>
        </p:nvSpPr>
        <p:spPr bwMode="auto">
          <a:xfrm>
            <a:off x="0" y="642918"/>
            <a:ext cx="8358214" cy="255454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720000" marR="0" lvl="0" indent="0" algn="just" defTabSz="914400" rtl="0" eaLnBrk="1" fontAlgn="base" latinLnBrk="0" hangingPunct="1">
              <a:lnSpc>
                <a:spcPct val="150000"/>
              </a:lnSpc>
              <a:spcBef>
                <a:spcPct val="0"/>
              </a:spcBef>
              <a:spcAft>
                <a:spcPct val="0"/>
              </a:spcAft>
              <a:buClrTx/>
              <a:buSzTx/>
              <a:tabLst/>
            </a:pPr>
            <a:r>
              <a:rPr lang="es-VE" sz="1600" dirty="0" smtClean="0">
                <a:latin typeface="Arial" pitchFamily="34" charset="0"/>
                <a:ea typeface="Calibri" pitchFamily="34" charset="0"/>
                <a:cs typeface="Arial" pitchFamily="34" charset="0"/>
              </a:rPr>
              <a:t>En consecuencia</a:t>
            </a: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r>
              <a:rPr lang="es-VE" sz="1600" dirty="0">
                <a:latin typeface="Arial" pitchFamily="34" charset="0"/>
                <a:ea typeface="Calibri" pitchFamily="34" charset="0"/>
                <a:cs typeface="Arial" pitchFamily="34" charset="0"/>
              </a:rPr>
              <a:t>l</a:t>
            </a: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a compañía concentra sus esfuerzos en el desarrollo de nuevos productos para</a:t>
            </a:r>
            <a:r>
              <a:rPr kumimoji="0" lang="es-VE" sz="1600" b="0" i="0" u="none" strike="noStrike" cap="none" normalizeH="0" dirty="0" smtClean="0">
                <a:ln>
                  <a:noFill/>
                </a:ln>
                <a:solidFill>
                  <a:schemeClr val="tx1"/>
                </a:solidFill>
                <a:effectLst/>
                <a:latin typeface="Arial" pitchFamily="34" charset="0"/>
                <a:ea typeface="Calibri" pitchFamily="34" charset="0"/>
                <a:cs typeface="Arial" pitchFamily="34" charset="0"/>
              </a:rPr>
              <a:t> introducirlos al</a:t>
            </a: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mercado. Esta es una de las opciones resultantes de la matriz de Ansoff, pero a diferencia de las anteriores, esta no es una estrategia de crecimientos intensiva.</a:t>
            </a:r>
          </a:p>
          <a:p>
            <a:pPr marL="720000" marR="0" lvl="0" indent="0" algn="just" defTabSz="914400" rtl="0" eaLnBrk="1" fontAlgn="base" latinLnBrk="0" hangingPunct="1">
              <a:lnSpc>
                <a:spcPct val="150000"/>
              </a:lnSpc>
              <a:spcBef>
                <a:spcPct val="0"/>
              </a:spcBef>
              <a:spcAft>
                <a:spcPct val="0"/>
              </a:spcAft>
              <a:buClrTx/>
              <a:buSzTx/>
              <a:tabLst/>
            </a:pPr>
            <a:endParaRPr lang="es-VE" sz="1600" dirty="0">
              <a:latin typeface="Arial" pitchFamily="34" charset="0"/>
              <a:cs typeface="Arial" pitchFamily="34" charset="0"/>
            </a:endParaRPr>
          </a:p>
          <a:p>
            <a:pPr marL="720000" marR="0" lvl="0" indent="0" algn="just" defTabSz="914400" rtl="0" eaLnBrk="1" fontAlgn="base" latinLnBrk="0" hangingPunct="1">
              <a:lnSpc>
                <a:spcPct val="150000"/>
              </a:lnSpc>
              <a:spcBef>
                <a:spcPct val="0"/>
              </a:spcBef>
              <a:spcAft>
                <a:spcPct val="0"/>
              </a:spcAft>
              <a:buClrTx/>
              <a:buSzTx/>
              <a:tabLst/>
            </a:pP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sz="1600" b="0" i="0" u="none" strike="noStrike" cap="none" normalizeH="0" baseline="0" dirty="0" smtClean="0">
              <a:ln>
                <a:noFill/>
              </a:ln>
              <a:solidFill>
                <a:schemeClr val="tx1"/>
              </a:solidFill>
              <a:effectLst/>
              <a:latin typeface="Arial" pitchFamily="34" charset="0"/>
              <a:cs typeface="Arial" pitchFamily="34" charset="0"/>
            </a:endParaRPr>
          </a:p>
        </p:txBody>
      </p:sp>
      <p:pic>
        <p:nvPicPr>
          <p:cNvPr id="3" name="il_fi" descr="http://1.bp.blogspot.com/_2844xqV8OMc/R-1xSVFQVvI/AAAAAAAAAEs/ulD62-ZI_A4/s400/Administracion%5B1%5D.jpg"/>
          <p:cNvPicPr/>
          <p:nvPr/>
        </p:nvPicPr>
        <p:blipFill>
          <a:blip r:embed="rId3"/>
          <a:srcRect/>
          <a:stretch>
            <a:fillRect/>
          </a:stretch>
        </p:blipFill>
        <p:spPr bwMode="auto">
          <a:xfrm>
            <a:off x="857224" y="2571744"/>
            <a:ext cx="3000396" cy="3262314"/>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4" name="il_fi" descr="http://www.crecenegocios.com/wp-content/uploads/2010/01/la-diversificacion.jpg"/>
          <p:cNvPicPr/>
          <p:nvPr/>
        </p:nvPicPr>
        <p:blipFill>
          <a:blip r:embed="rId4"/>
          <a:srcRect/>
          <a:stretch>
            <a:fillRect/>
          </a:stretch>
        </p:blipFill>
        <p:spPr bwMode="auto">
          <a:xfrm>
            <a:off x="4500562" y="2857496"/>
            <a:ext cx="3143272" cy="2714644"/>
          </a:xfrm>
          <a:prstGeom prst="roundRect">
            <a:avLst>
              <a:gd name="adj" fmla="val 16667"/>
            </a:avLst>
          </a:prstGeom>
          <a:ln w="12700">
            <a:solidFill>
              <a:schemeClr val="accent6">
                <a:lumMod val="75000"/>
              </a:schemeClr>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transition spd="slow">
    <p:wheel spokes="8"/>
    <p:sndAc>
      <p:stSnd>
        <p:snd r:embed="rId2" name="click.wav" builtIn="1"/>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1"/>
          <p:cNvSpPr>
            <a:spLocks noChangeArrowheads="1"/>
          </p:cNvSpPr>
          <p:nvPr/>
        </p:nvSpPr>
        <p:spPr bwMode="auto">
          <a:xfrm>
            <a:off x="0" y="571480"/>
            <a:ext cx="8786842" cy="63709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720000" algn="just">
              <a:lnSpc>
                <a:spcPct val="150000"/>
              </a:lnSpc>
            </a:pPr>
            <a:r>
              <a:rPr kumimoji="0" lang="es-VE" sz="1600" b="0" i="0" u="none" strike="noStrike" cap="none" normalizeH="0" baseline="0" dirty="0" smtClean="0">
                <a:ln>
                  <a:noFill/>
                </a:ln>
                <a:solidFill>
                  <a:schemeClr val="tx1"/>
                </a:solidFill>
                <a:effectLst/>
                <a:latin typeface="Arial" pitchFamily="34" charset="0"/>
                <a:ea typeface="Calibri" pitchFamily="34" charset="0"/>
                <a:cs typeface="Arial" pitchFamily="34" charset="0"/>
              </a:rPr>
              <a:t>   Una vez conocido como funciona la Matriz de Ansoff es de vital relevancia resaltar que su principal virtud radica en su capacidad para estructurar y representar sencillamente las posibilidades de expansión de una empresa. La robustez del modelo reposa en el sentido común, más que en la sofisticación de su base teórica. </a:t>
            </a:r>
            <a:r>
              <a:rPr lang="es-VE" sz="1600" dirty="0" smtClean="0">
                <a:latin typeface="Arial" pitchFamily="34" charset="0"/>
                <a:cs typeface="Arial" pitchFamily="34" charset="0"/>
              </a:rPr>
              <a:t>Así</a:t>
            </a:r>
            <a:r>
              <a:rPr lang="es-VE" sz="1600" dirty="0">
                <a:latin typeface="Arial" pitchFamily="34" charset="0"/>
                <a:cs typeface="Arial" pitchFamily="34" charset="0"/>
              </a:rPr>
              <a:t>, la Matriz de Ansoff brinda herramientas para la identificación de oportunidades de negocio permitiendo entre otras cosas la expansión en el mercado, el aumento de la </a:t>
            </a:r>
            <a:r>
              <a:rPr lang="es-VE" sz="1600" dirty="0" smtClean="0">
                <a:latin typeface="Arial" pitchFamily="34" charset="0"/>
                <a:cs typeface="Arial" pitchFamily="34" charset="0"/>
              </a:rPr>
              <a:t>productividad </a:t>
            </a:r>
            <a:r>
              <a:rPr lang="es-VE" sz="1600" dirty="0">
                <a:latin typeface="Arial" pitchFamily="34" charset="0"/>
                <a:cs typeface="Arial" pitchFamily="34" charset="0"/>
              </a:rPr>
              <a:t>y el logro de los objetivos organizacionales. Sin embargo, para aprovechar tales ventajas, la empresa debe generar estrategias acordes a su situación en el ámbito </a:t>
            </a:r>
            <a:r>
              <a:rPr lang="es-VE" sz="1600" dirty="0" smtClean="0">
                <a:latin typeface="Arial" pitchFamily="34" charset="0"/>
                <a:cs typeface="Arial" pitchFamily="34" charset="0"/>
              </a:rPr>
              <a:t>empresarial.</a:t>
            </a:r>
          </a:p>
          <a:p>
            <a:pPr marL="720000" algn="just">
              <a:lnSpc>
                <a:spcPct val="150000"/>
              </a:lnSpc>
            </a:pPr>
            <a:r>
              <a:rPr lang="es-ES" sz="1600" dirty="0" smtClean="0">
                <a:latin typeface="Arial" pitchFamily="34" charset="0"/>
                <a:cs typeface="Arial" pitchFamily="34" charset="0"/>
              </a:rPr>
              <a:t>Cabe destacar que esta matriz nos proporciona una gran ventaja porque nos  permite analizar los  componentes principales del problema estratégico concentrando sus esfuerzos en el desarrollo de nuevos productos en nuevos mercados metas, para así poder tener mejor rentabilidad en los nuevos mercados que deseamos introducir nuestros productos actuales y los nuevos para que así se desarrollen de la manera más efectiva.   </a:t>
            </a:r>
          </a:p>
          <a:p>
            <a:pPr marL="720000" indent="449263" algn="just" fontAlgn="base">
              <a:lnSpc>
                <a:spcPct val="150000"/>
              </a:lnSpc>
              <a:spcBef>
                <a:spcPct val="0"/>
              </a:spcBef>
              <a:spcAft>
                <a:spcPct val="0"/>
              </a:spcAft>
            </a:pPr>
            <a:endParaRPr lang="es-ES" sz="1600" dirty="0">
              <a:latin typeface="Arial" pitchFamily="34" charset="0"/>
              <a:cs typeface="Arial" pitchFamily="34" charset="0"/>
            </a:endParaRPr>
          </a:p>
          <a:p>
            <a:pPr marL="720000" marR="0" lvl="0" indent="449263" algn="just" defTabSz="914400" rtl="0" eaLnBrk="1" fontAlgn="base" latinLnBrk="0" hangingPunct="1">
              <a:lnSpc>
                <a:spcPct val="150000"/>
              </a:lnSpc>
              <a:spcBef>
                <a:spcPct val="0"/>
              </a:spcBef>
              <a:spcAft>
                <a:spcPct val="0"/>
              </a:spcAft>
              <a:buClrTx/>
              <a:buSzTx/>
              <a:buFontTx/>
              <a:buNone/>
              <a:tabLst/>
            </a:pPr>
            <a:r>
              <a:rPr kumimoji="0" lang="es-VE" sz="1600" i="0" strike="noStrike" cap="none" normalizeH="0" baseline="0" dirty="0" smtClean="0">
                <a:ln>
                  <a:noFill/>
                </a:ln>
                <a:effectLst/>
                <a:latin typeface="Arial" pitchFamily="34" charset="0"/>
                <a:ea typeface="Calibri" pitchFamily="34" charset="0"/>
                <a:cs typeface="Arial" pitchFamily="34" charset="0"/>
              </a:rPr>
              <a:t> </a:t>
            </a:r>
            <a:endParaRPr kumimoji="0" lang="es-VE" sz="1600" i="0" strike="noStrike" cap="none" normalizeH="0" baseline="0" dirty="0" smtClean="0">
              <a:ln>
                <a:noFill/>
              </a:ln>
              <a:effectLst/>
              <a:latin typeface="Arial" pitchFamily="34" charset="0"/>
              <a:cs typeface="Arial" pitchFamily="34" charset="0"/>
            </a:endParaRPr>
          </a:p>
        </p:txBody>
      </p:sp>
    </p:spTree>
  </p:cSld>
  <p:clrMapOvr>
    <a:masterClrMapping/>
  </p:clrMapOvr>
  <p:transition spd="slow">
    <p:wedge/>
    <p:sndAc>
      <p:stSnd>
        <p:snd r:embed="rId2" name="click.wav" builtIn="1"/>
      </p:stSnd>
    </p:sndAc>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142844" y="714356"/>
            <a:ext cx="8643998" cy="5632311"/>
          </a:xfrm>
          <a:prstGeom prst="rect">
            <a:avLst/>
          </a:prstGeom>
        </p:spPr>
        <p:txBody>
          <a:bodyPr wrap="square">
            <a:spAutoFit/>
          </a:bodyPr>
          <a:lstStyle/>
          <a:p>
            <a:pPr marL="720000" algn="just">
              <a:lnSpc>
                <a:spcPct val="150000"/>
              </a:lnSpc>
            </a:pPr>
            <a:r>
              <a:rPr lang="es-ES" sz="1600" dirty="0" smtClean="0">
                <a:latin typeface="Arial" pitchFamily="34" charset="0"/>
                <a:cs typeface="Arial" pitchFamily="34" charset="0"/>
              </a:rPr>
              <a:t>Es por ende que esta herramienta nos proporciona múltiples beneficios a nuestras organizaciones a la hora de penetración  de los productos al Mercado o en su desarrollo para así poder mantener el equilibrio organizacional y constante de nuestra organización. </a:t>
            </a:r>
          </a:p>
          <a:p>
            <a:pPr marL="720000" lvl="0" algn="just">
              <a:lnSpc>
                <a:spcPct val="150000"/>
              </a:lnSpc>
            </a:pPr>
            <a:r>
              <a:rPr lang="es-ES" sz="1600" dirty="0" smtClean="0">
                <a:latin typeface="Arial" pitchFamily="34" charset="0"/>
                <a:cs typeface="Arial" pitchFamily="34" charset="0"/>
              </a:rPr>
              <a:t>De igual manera se deben tratar los riesgos que puedan surgir a la hora de implantar esta estrategia de Igor Ansoff a una determinada empresa , ya que se debe haber </a:t>
            </a:r>
            <a:r>
              <a:rPr lang="es-ES" sz="1600" dirty="0">
                <a:latin typeface="Arial" pitchFamily="34" charset="0"/>
                <a:cs typeface="Arial" pitchFamily="34" charset="0"/>
              </a:rPr>
              <a:t>investigado cuidadosamente antes de decidir el </a:t>
            </a:r>
            <a:r>
              <a:rPr lang="es-ES" sz="1600" dirty="0" smtClean="0">
                <a:latin typeface="Arial" pitchFamily="34" charset="0"/>
                <a:cs typeface="Arial" pitchFamily="34" charset="0"/>
              </a:rPr>
              <a:t>movimiento. Estudiando y analizado </a:t>
            </a:r>
            <a:r>
              <a:rPr lang="es-ES" sz="1600" dirty="0">
                <a:latin typeface="Arial" pitchFamily="34" charset="0"/>
                <a:cs typeface="Arial" pitchFamily="34" charset="0"/>
              </a:rPr>
              <a:t>las capacidades necesarias para tener éxito en </a:t>
            </a:r>
            <a:r>
              <a:rPr lang="es-ES" sz="1600" dirty="0" smtClean="0">
                <a:latin typeface="Arial" pitchFamily="34" charset="0"/>
                <a:cs typeface="Arial" pitchFamily="34" charset="0"/>
              </a:rPr>
              <a:t>la nueva parte.</a:t>
            </a:r>
            <a:endParaRPr lang="es-ES" sz="1600" dirty="0">
              <a:latin typeface="Arial" pitchFamily="34" charset="0"/>
              <a:cs typeface="Arial" pitchFamily="34" charset="0"/>
            </a:endParaRPr>
          </a:p>
          <a:p>
            <a:pPr marL="720000" lvl="0" algn="just">
              <a:lnSpc>
                <a:spcPct val="150000"/>
              </a:lnSpc>
            </a:pPr>
            <a:r>
              <a:rPr lang="es-ES" sz="1600" dirty="0" smtClean="0">
                <a:latin typeface="Arial" pitchFamily="34" charset="0"/>
                <a:cs typeface="Arial" pitchFamily="34" charset="0"/>
              </a:rPr>
              <a:t>También se tienen que tener </a:t>
            </a:r>
            <a:r>
              <a:rPr lang="es-ES" sz="1600" dirty="0">
                <a:latin typeface="Arial" pitchFamily="34" charset="0"/>
                <a:cs typeface="Arial" pitchFamily="34" charset="0"/>
              </a:rPr>
              <a:t>recursos para cubrir un período regular que posiblemente se presente, mientras se está en desarrollo </a:t>
            </a:r>
            <a:r>
              <a:rPr lang="es-ES" sz="1600" dirty="0" smtClean="0">
                <a:latin typeface="Arial" pitchFamily="34" charset="0"/>
                <a:cs typeface="Arial" pitchFamily="34" charset="0"/>
              </a:rPr>
              <a:t>el proceso </a:t>
            </a:r>
            <a:r>
              <a:rPr lang="es-ES" sz="1600" dirty="0">
                <a:latin typeface="Arial" pitchFamily="34" charset="0"/>
                <a:cs typeface="Arial" pitchFamily="34" charset="0"/>
              </a:rPr>
              <a:t>de cómo vender el nuevo </a:t>
            </a:r>
            <a:r>
              <a:rPr lang="es-ES" sz="1600" dirty="0" smtClean="0">
                <a:latin typeface="Arial" pitchFamily="34" charset="0"/>
                <a:cs typeface="Arial" pitchFamily="34" charset="0"/>
              </a:rPr>
              <a:t>producto y aprender </a:t>
            </a:r>
            <a:r>
              <a:rPr lang="es-ES" sz="1600" dirty="0">
                <a:latin typeface="Arial" pitchFamily="34" charset="0"/>
                <a:cs typeface="Arial" pitchFamily="34" charset="0"/>
              </a:rPr>
              <a:t>del nuevo </a:t>
            </a:r>
            <a:r>
              <a:rPr lang="es-ES" sz="1600" dirty="0" smtClean="0">
                <a:latin typeface="Arial" pitchFamily="34" charset="0"/>
                <a:cs typeface="Arial" pitchFamily="34" charset="0"/>
              </a:rPr>
              <a:t>mercado, igualmente </a:t>
            </a:r>
            <a:endParaRPr lang="es-ES" sz="1600" dirty="0">
              <a:latin typeface="Arial" pitchFamily="34" charset="0"/>
              <a:cs typeface="Arial" pitchFamily="34" charset="0"/>
            </a:endParaRPr>
          </a:p>
          <a:p>
            <a:pPr marL="720000" lvl="0" algn="just">
              <a:lnSpc>
                <a:spcPct val="150000"/>
              </a:lnSpc>
            </a:pPr>
            <a:r>
              <a:rPr lang="es-ES" sz="1600" dirty="0" smtClean="0">
                <a:latin typeface="Arial" pitchFamily="34" charset="0"/>
                <a:cs typeface="Arial" pitchFamily="34" charset="0"/>
              </a:rPr>
              <a:t>se debe tener </a:t>
            </a:r>
            <a:r>
              <a:rPr lang="es-ES" sz="1600" dirty="0">
                <a:latin typeface="Arial" pitchFamily="34" charset="0"/>
                <a:cs typeface="Arial" pitchFamily="34" charset="0"/>
              </a:rPr>
              <a:t>planificado qué hacer si las cosas no salen bien, y que ese posible fracaso no vaya a </a:t>
            </a:r>
            <a:r>
              <a:rPr lang="es-ES" sz="1600" dirty="0" smtClean="0">
                <a:latin typeface="Arial" pitchFamily="34" charset="0"/>
                <a:cs typeface="Arial" pitchFamily="34" charset="0"/>
              </a:rPr>
              <a:t>“acabar” </a:t>
            </a:r>
            <a:r>
              <a:rPr lang="es-ES" sz="1600" dirty="0">
                <a:latin typeface="Arial" pitchFamily="34" charset="0"/>
                <a:cs typeface="Arial" pitchFamily="34" charset="0"/>
              </a:rPr>
              <a:t>el negocio</a:t>
            </a:r>
            <a:r>
              <a:rPr lang="es-ES" sz="1600" dirty="0" smtClean="0">
                <a:latin typeface="Arial" pitchFamily="34" charset="0"/>
                <a:cs typeface="Arial" pitchFamily="34" charset="0"/>
              </a:rPr>
              <a:t>.</a:t>
            </a:r>
          </a:p>
          <a:p>
            <a:pPr marL="720000" lvl="0" algn="just">
              <a:lnSpc>
                <a:spcPct val="150000"/>
              </a:lnSpc>
            </a:pPr>
            <a:endParaRPr lang="es-ES" sz="1600" dirty="0">
              <a:latin typeface="Arial" pitchFamily="34" charset="0"/>
              <a:cs typeface="Arial" pitchFamily="34" charset="0"/>
            </a:endParaRPr>
          </a:p>
          <a:p>
            <a:pPr marL="720000" algn="just">
              <a:lnSpc>
                <a:spcPct val="150000"/>
              </a:lnSpc>
            </a:pPr>
            <a:r>
              <a:rPr lang="es-ES" sz="1600" dirty="0" smtClean="0">
                <a:latin typeface="Arial" pitchFamily="34" charset="0"/>
                <a:cs typeface="Arial" pitchFamily="34" charset="0"/>
              </a:rPr>
              <a:t> </a:t>
            </a:r>
            <a:r>
              <a:rPr lang="es-ES" sz="1600" dirty="0" smtClean="0">
                <a:latin typeface="Arial" pitchFamily="34" charset="0"/>
                <a:cs typeface="Arial" pitchFamily="34" charset="0"/>
              </a:rPr>
              <a:t> </a:t>
            </a:r>
            <a:endParaRPr lang="es-ES" sz="1600" dirty="0" smtClean="0">
              <a:latin typeface="Arial" pitchFamily="34" charset="0"/>
              <a:cs typeface="Arial" pitchFamily="34" charset="0"/>
            </a:endParaRPr>
          </a:p>
        </p:txBody>
      </p:sp>
      <p:pic>
        <p:nvPicPr>
          <p:cNvPr id="3" name="il_fi" descr="http://img2.mlstatic.com/s_MLV_v_O_f_31021473_8496.jpg"/>
          <p:cNvPicPr/>
          <p:nvPr/>
        </p:nvPicPr>
        <p:blipFill>
          <a:blip r:embed="rId3"/>
          <a:srcRect/>
          <a:stretch>
            <a:fillRect/>
          </a:stretch>
        </p:blipFill>
        <p:spPr bwMode="auto">
          <a:xfrm>
            <a:off x="5572132" y="5143512"/>
            <a:ext cx="1785950" cy="1714488"/>
          </a:xfrm>
          <a:prstGeom prst="rect">
            <a:avLst/>
          </a:prstGeom>
          <a:ln>
            <a:noFill/>
          </a:ln>
          <a:effectLst>
            <a:softEdge rad="112500"/>
          </a:effectLst>
        </p:spPr>
      </p:pic>
    </p:spTree>
  </p:cSld>
  <p:clrMapOvr>
    <a:masterClrMapping/>
  </p:clrMapOvr>
  <p:transition spd="slow">
    <p:pull dir="ld"/>
    <p:sndAc>
      <p:stSnd>
        <p:snd r:embed="rId2" name="click.wav" builtIn="1"/>
      </p:stSnd>
    </p:sndAc>
  </p:transition>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Viajes">
  <a:themeElements>
    <a:clrScheme name="Viajes">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Viajes">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Viajes">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261</TotalTime>
  <Words>1059</Words>
  <Application>Microsoft Office PowerPoint</Application>
  <PresentationFormat>Presentación en pantalla (4:3)</PresentationFormat>
  <Paragraphs>87</Paragraphs>
  <Slides>15</Slides>
  <Notes>0</Notes>
  <HiddenSlides>0</HiddenSlides>
  <MMClips>0</MMClips>
  <ScaleCrop>false</ScaleCrop>
  <HeadingPairs>
    <vt:vector size="4" baseType="variant">
      <vt:variant>
        <vt:lpstr>Tema</vt:lpstr>
      </vt:variant>
      <vt:variant>
        <vt:i4>1</vt:i4>
      </vt:variant>
      <vt:variant>
        <vt:lpstr>Títulos de diapositiva</vt:lpstr>
      </vt:variant>
      <vt:variant>
        <vt:i4>15</vt:i4>
      </vt:variant>
    </vt:vector>
  </HeadingPairs>
  <TitlesOfParts>
    <vt:vector size="16" baseType="lpstr">
      <vt:lpstr>Viajes</vt:lpstr>
      <vt:lpstr>Participantes Jiménez Zuliran Ventura Sarai Cordero Yarisvay Andrade Betzabet Arroyo Leonardo Guedez Erika Sección: A Técnicas de Programación y Control aplicadas al Mercadeo.  </vt:lpstr>
      <vt:lpstr>Diapositiva 2</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vector>
  </TitlesOfParts>
  <Company>Windows XP Titan Ultimate Edition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Admin</dc:creator>
  <cp:lastModifiedBy>Admin</cp:lastModifiedBy>
  <cp:revision>48</cp:revision>
  <dcterms:created xsi:type="dcterms:W3CDTF">2011-02-01T20:42:16Z</dcterms:created>
  <dcterms:modified xsi:type="dcterms:W3CDTF">2011-02-02T01:03:21Z</dcterms:modified>
</cp:coreProperties>
</file>